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76" r:id="rId5"/>
    <p:sldId id="261" r:id="rId6"/>
    <p:sldId id="262" r:id="rId7"/>
    <p:sldId id="260" r:id="rId8"/>
    <p:sldId id="280" r:id="rId9"/>
    <p:sldId id="282" r:id="rId10"/>
    <p:sldId id="264" r:id="rId11"/>
    <p:sldId id="281" r:id="rId12"/>
    <p:sldId id="265" r:id="rId13"/>
    <p:sldId id="277" r:id="rId14"/>
    <p:sldId id="278" r:id="rId15"/>
    <p:sldId id="279" r:id="rId16"/>
    <p:sldId id="267" r:id="rId17"/>
  </p:sldIdLst>
  <p:sldSz cx="18288000" cy="10287000"/>
  <p:notesSz cx="6858000" cy="9144000"/>
  <p:embeddedFontLst>
    <p:embeddedFont>
      <p:font typeface="Anantason UltraExpanded Bold" panose="020B0604020202020204" charset="-34"/>
      <p:regular r:id="rId18"/>
    </p:embeddedFont>
    <p:embeddedFont>
      <p:font typeface="Anantason UltraExpanded Thin" panose="020B0604020202020204" charset="-34"/>
      <p:regular r:id="rId19"/>
    </p:embeddedFont>
    <p:embeddedFont>
      <p:font typeface="Codec Pro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9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Freeform 2"/>
          <p:cNvSpPr/>
          <p:nvPr/>
        </p:nvSpPr>
        <p:spPr>
          <a:xfrm>
            <a:off x="5684581" y="-3314700"/>
            <a:ext cx="15215888" cy="15342310"/>
          </a:xfrm>
          <a:custGeom>
            <a:avLst/>
            <a:gdLst/>
            <a:ahLst/>
            <a:cxnLst/>
            <a:rect l="l" t="t" r="r" b="b"/>
            <a:pathLst>
              <a:path w="16737065" h="15342310">
                <a:moveTo>
                  <a:pt x="0" y="0"/>
                </a:moveTo>
                <a:lnTo>
                  <a:pt x="16737066" y="0"/>
                </a:lnTo>
                <a:lnTo>
                  <a:pt x="16737066" y="15342310"/>
                </a:lnTo>
                <a:lnTo>
                  <a:pt x="0" y="15342310"/>
                </a:lnTo>
                <a:lnTo>
                  <a:pt x="0" y="0"/>
                </a:lnTo>
                <a:close/>
              </a:path>
            </a:pathLst>
          </a:custGeom>
          <a:blipFill>
            <a:blip r:embed="rId2"/>
            <a:stretch>
              <a:fillRect/>
            </a:stretch>
          </a:blipFill>
        </p:spPr>
      </p:sp>
      <p:sp>
        <p:nvSpPr>
          <p:cNvPr id="3" name="Freeform 3"/>
          <p:cNvSpPr/>
          <p:nvPr/>
        </p:nvSpPr>
        <p:spPr>
          <a:xfrm>
            <a:off x="-4204868" y="-7060362"/>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3"/>
            <a:stretch>
              <a:fillRect/>
            </a:stretch>
          </a:blipFill>
        </p:spPr>
        <p:txBody>
          <a:bodyPr/>
          <a:lstStyle/>
          <a:p>
            <a:endParaRPr lang="en-IN" dirty="0"/>
          </a:p>
        </p:txBody>
      </p:sp>
      <p:sp>
        <p:nvSpPr>
          <p:cNvPr id="4" name="Freeform 4"/>
          <p:cNvSpPr/>
          <p:nvPr/>
        </p:nvSpPr>
        <p:spPr>
          <a:xfrm>
            <a:off x="6361858" y="723900"/>
            <a:ext cx="18003772" cy="15355717"/>
          </a:xfrm>
          <a:custGeom>
            <a:avLst/>
            <a:gdLst/>
            <a:ahLst/>
            <a:cxnLst/>
            <a:rect l="l" t="t" r="r" b="b"/>
            <a:pathLst>
              <a:path w="18003772" h="15355717">
                <a:moveTo>
                  <a:pt x="0" y="0"/>
                </a:moveTo>
                <a:lnTo>
                  <a:pt x="18003773" y="0"/>
                </a:lnTo>
                <a:lnTo>
                  <a:pt x="18003773" y="15355718"/>
                </a:lnTo>
                <a:lnTo>
                  <a:pt x="0" y="15355718"/>
                </a:lnTo>
                <a:lnTo>
                  <a:pt x="0" y="0"/>
                </a:lnTo>
                <a:close/>
              </a:path>
            </a:pathLst>
          </a:custGeom>
          <a:blipFill>
            <a:blip r:embed="rId4"/>
            <a:stretch>
              <a:fillRect/>
            </a:stretch>
          </a:blipFill>
          <a:ln cap="sq">
            <a:noFill/>
            <a:prstDash val="solid"/>
            <a:miter/>
          </a:ln>
        </p:spPr>
        <p:txBody>
          <a:bodyPr/>
          <a:lstStyle/>
          <a:p>
            <a:endParaRPr lang="en-IN" dirty="0"/>
          </a:p>
        </p:txBody>
      </p:sp>
      <p:sp>
        <p:nvSpPr>
          <p:cNvPr id="5" name="Freeform 5"/>
          <p:cNvSpPr/>
          <p:nvPr/>
        </p:nvSpPr>
        <p:spPr>
          <a:xfrm>
            <a:off x="0" y="6896100"/>
            <a:ext cx="10515600" cy="3283860"/>
          </a:xfrm>
          <a:custGeom>
            <a:avLst/>
            <a:gdLst/>
            <a:ahLst/>
            <a:cxnLst/>
            <a:rect l="l" t="t" r="r" b="b"/>
            <a:pathLst>
              <a:path w="11941308" h="3283860">
                <a:moveTo>
                  <a:pt x="0" y="0"/>
                </a:moveTo>
                <a:lnTo>
                  <a:pt x="11941307" y="0"/>
                </a:lnTo>
                <a:lnTo>
                  <a:pt x="11941307" y="3283859"/>
                </a:lnTo>
                <a:lnTo>
                  <a:pt x="0" y="3283859"/>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13" name="TextBox 13"/>
          <p:cNvSpPr txBox="1"/>
          <p:nvPr/>
        </p:nvSpPr>
        <p:spPr>
          <a:xfrm>
            <a:off x="16764000" y="9944100"/>
            <a:ext cx="4343400" cy="148117"/>
          </a:xfrm>
          <a:prstGeom prst="rect">
            <a:avLst/>
          </a:prstGeom>
        </p:spPr>
        <p:txBody>
          <a:bodyPr wrap="square" lIns="0" tIns="0" rIns="0" bIns="0" rtlCol="0" anchor="t">
            <a:spAutoFit/>
          </a:bodyPr>
          <a:lstStyle/>
          <a:p>
            <a:pPr lvl="0">
              <a:lnSpc>
                <a:spcPct val="150000"/>
              </a:lnSpc>
              <a:spcBef>
                <a:spcPct val="0"/>
              </a:spcBef>
            </a:pPr>
            <a:r>
              <a:rPr lang="en-US" sz="700" b="1" dirty="0">
                <a:solidFill>
                  <a:schemeClr val="bg1"/>
                </a:solidFill>
                <a:latin typeface="Anantason UltraExpanded Bold"/>
                <a:ea typeface="Anantason UltraExpanded Bold"/>
                <a:cs typeface="Anantason UltraExpanded Bold"/>
                <a:sym typeface="Anantason UltraExpanded Bold"/>
              </a:rPr>
              <a:t>Presented by: LEGENDS</a:t>
            </a:r>
            <a:endParaRPr lang="en-US" sz="700" b="1" u="none" strike="noStrike" dirty="0">
              <a:solidFill>
                <a:schemeClr val="bg1"/>
              </a:solidFill>
              <a:latin typeface="Anantason UltraExpanded Bold"/>
              <a:ea typeface="Anantason UltraExpanded Bold"/>
              <a:cs typeface="Anantason UltraExpanded Bold"/>
              <a:sym typeface="Anantason UltraExpanded Bold"/>
            </a:endParaRPr>
          </a:p>
        </p:txBody>
      </p:sp>
      <p:sp>
        <p:nvSpPr>
          <p:cNvPr id="14" name="TextBox 14"/>
          <p:cNvSpPr txBox="1"/>
          <p:nvPr/>
        </p:nvSpPr>
        <p:spPr>
          <a:xfrm>
            <a:off x="11577480" y="5139400"/>
            <a:ext cx="1075191" cy="2462213"/>
          </a:xfrm>
          <a:prstGeom prst="rect">
            <a:avLst/>
          </a:prstGeom>
        </p:spPr>
        <p:txBody>
          <a:bodyPr lIns="0" tIns="0" rIns="0" bIns="0" rtlCol="0" anchor="t">
            <a:spAutoFit/>
          </a:bodyPr>
          <a:lstStyle/>
          <a:p>
            <a:pPr algn="ctr">
              <a:lnSpc>
                <a:spcPts val="19245"/>
              </a:lnSpc>
              <a:spcBef>
                <a:spcPct val="0"/>
              </a:spcBef>
            </a:pPr>
            <a:endParaRPr lang="en-US" sz="16037" b="1" dirty="0">
              <a:solidFill>
                <a:srgbClr val="FFFFFF"/>
              </a:solidFill>
              <a:latin typeface="Codec Pro Bold"/>
              <a:ea typeface="Codec Pro Bold"/>
              <a:cs typeface="Codec Pro Bold"/>
              <a:sym typeface="Codec Pro Bold"/>
            </a:endParaRPr>
          </a:p>
        </p:txBody>
      </p:sp>
      <p:sp>
        <p:nvSpPr>
          <p:cNvPr id="6" name="Rectangle 5">
            <a:extLst>
              <a:ext uri="{FF2B5EF4-FFF2-40B4-BE49-F238E27FC236}">
                <a16:creationId xmlns:a16="http://schemas.microsoft.com/office/drawing/2014/main" id="{1EB0A481-C31F-F4EC-3ADE-CBA3FF02E1FF}"/>
              </a:ext>
            </a:extLst>
          </p:cNvPr>
          <p:cNvSpPr/>
          <p:nvPr/>
        </p:nvSpPr>
        <p:spPr>
          <a:xfrm>
            <a:off x="-3581400" y="2532507"/>
            <a:ext cx="15468600" cy="1862048"/>
          </a:xfrm>
          <a:prstGeom prst="rect">
            <a:avLst/>
          </a:prstGeom>
          <a:noFill/>
        </p:spPr>
        <p:txBody>
          <a:bodyPr wrap="square" lIns="91440" tIns="45720" rIns="91440" bIns="45720">
            <a:spAutoFit/>
          </a:bodyPr>
          <a:lstStyle/>
          <a:p>
            <a:pPr algn="ctr"/>
            <a:r>
              <a:rPr lang="en-US" sz="115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glow rad="228600">
                    <a:schemeClr val="accent4">
                      <a:satMod val="175000"/>
                      <a:alpha val="40000"/>
                    </a:schemeClr>
                  </a:glow>
                  <a:innerShdw blurRad="114300">
                    <a:prstClr val="black"/>
                  </a:innerShdw>
                </a:effectLst>
                <a:latin typeface="Anantason UltraExpanded Bold"/>
                <a:ea typeface="Anantason UltraExpanded Bold"/>
                <a:cs typeface="Anantason UltraExpanded Bold"/>
                <a:sym typeface="Anantason UltraExpanded Bold"/>
              </a:rPr>
              <a:t>NeuraInk</a:t>
            </a:r>
            <a:endParaRPr lang="en-IN" sz="115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glow rad="228600">
                  <a:schemeClr val="accent4">
                    <a:satMod val="175000"/>
                    <a:alpha val="40000"/>
                  </a:schemeClr>
                </a:glow>
                <a:innerShdw blurRad="114300">
                  <a:prstClr val="black"/>
                </a:innerShdw>
              </a:effectLst>
            </a:endParaRPr>
          </a:p>
        </p:txBody>
      </p:sp>
      <p:sp>
        <p:nvSpPr>
          <p:cNvPr id="7" name="TextBox 6">
            <a:extLst>
              <a:ext uri="{FF2B5EF4-FFF2-40B4-BE49-F238E27FC236}">
                <a16:creationId xmlns:a16="http://schemas.microsoft.com/office/drawing/2014/main" id="{4A09A3B4-F377-3E92-51FB-7494533C6569}"/>
              </a:ext>
            </a:extLst>
          </p:cNvPr>
          <p:cNvSpPr txBox="1"/>
          <p:nvPr/>
        </p:nvSpPr>
        <p:spPr>
          <a:xfrm>
            <a:off x="762000" y="4438494"/>
            <a:ext cx="7162800" cy="584775"/>
          </a:xfrm>
          <a:prstGeom prst="rect">
            <a:avLst/>
          </a:prstGeom>
          <a:noFill/>
          <a:ln>
            <a:noFill/>
          </a:ln>
        </p:spPr>
        <p:txBody>
          <a:bodyPr wrap="square" rtlCol="0">
            <a:spAutoFit/>
          </a:bodyPr>
          <a:lstStyle/>
          <a:p>
            <a:r>
              <a:rPr lang="en-US" sz="32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glow rad="228600">
                    <a:schemeClr val="accent4">
                      <a:satMod val="175000"/>
                      <a:alpha val="40000"/>
                    </a:schemeClr>
                  </a:glow>
                  <a:innerShdw blurRad="114300">
                    <a:prstClr val="black"/>
                  </a:innerShdw>
                </a:effectLst>
                <a:latin typeface="Anantason UltraExpanded Bold"/>
                <a:ea typeface="Anantason UltraExpanded Bold"/>
                <a:cs typeface="Anantason UltraExpanded Bold"/>
                <a:sym typeface="Anantason UltraExpanded Bold"/>
              </a:rPr>
              <a:t>An Intelligent OCR – System</a:t>
            </a:r>
            <a:endParaRPr lang="en-IN" sz="32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Freeform 2"/>
          <p:cNvSpPr/>
          <p:nvPr/>
        </p:nvSpPr>
        <p:spPr>
          <a:xfrm>
            <a:off x="-3429000" y="-6210300"/>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3" name="Freeform 3"/>
          <p:cNvSpPr/>
          <p:nvPr/>
        </p:nvSpPr>
        <p:spPr>
          <a:xfrm>
            <a:off x="6705600" y="8343900"/>
            <a:ext cx="14336955" cy="6055724"/>
          </a:xfrm>
          <a:custGeom>
            <a:avLst/>
            <a:gdLst/>
            <a:ahLst/>
            <a:cxnLst/>
            <a:rect l="l" t="t" r="r" b="b"/>
            <a:pathLst>
              <a:path w="14336955" h="6055724">
                <a:moveTo>
                  <a:pt x="0" y="0"/>
                </a:moveTo>
                <a:lnTo>
                  <a:pt x="14336955" y="0"/>
                </a:lnTo>
                <a:lnTo>
                  <a:pt x="14336955" y="6055724"/>
                </a:lnTo>
                <a:lnTo>
                  <a:pt x="0" y="60557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553200" y="806542"/>
            <a:ext cx="5486400" cy="793487"/>
          </a:xfrm>
          <a:prstGeom prst="rect">
            <a:avLst/>
          </a:prstGeom>
        </p:spPr>
        <p:txBody>
          <a:bodyPr wrap="square" lIns="0" tIns="0" rIns="0" bIns="0" rtlCol="0" anchor="t">
            <a:spAutoFit/>
          </a:bodyPr>
          <a:lstStyle/>
          <a:p>
            <a:pPr lvl="0">
              <a:lnSpc>
                <a:spcPts val="6000"/>
              </a:lnSpc>
              <a:spcBef>
                <a:spcPct val="0"/>
              </a:spcBef>
            </a:pPr>
            <a:r>
              <a:rPr lang="en-US" sz="7200" b="1" dirty="0">
                <a:solidFill>
                  <a:schemeClr val="accent4">
                    <a:lumMod val="60000"/>
                    <a:lumOff val="40000"/>
                  </a:schemeClr>
                </a:solidFill>
                <a:latin typeface="Times New Roman" panose="02020603050405020304" pitchFamily="18" charset="0"/>
                <a:ea typeface="Anantason UltraExpanded Bold"/>
                <a:cs typeface="Times New Roman" panose="02020603050405020304" pitchFamily="18" charset="0"/>
                <a:sym typeface="Anantason UltraExpanded Bold"/>
              </a:rPr>
              <a:t>Introduction</a:t>
            </a:r>
            <a:endParaRPr lang="en-US" sz="7200" b="1" u="none" strike="noStrike" dirty="0">
              <a:solidFill>
                <a:srgbClr val="78FF87"/>
              </a:solidFill>
              <a:latin typeface="Times New Roman" panose="02020603050405020304" pitchFamily="18" charset="0"/>
              <a:ea typeface="Anantason UltraExpanded Bold"/>
              <a:cs typeface="Times New Roman" panose="02020603050405020304" pitchFamily="18" charset="0"/>
              <a:sym typeface="Anantason UltraExpanded Bold"/>
            </a:endParaRPr>
          </a:p>
        </p:txBody>
      </p:sp>
      <p:sp>
        <p:nvSpPr>
          <p:cNvPr id="6" name="TextBox 6"/>
          <p:cNvSpPr txBox="1"/>
          <p:nvPr/>
        </p:nvSpPr>
        <p:spPr>
          <a:xfrm>
            <a:off x="761999" y="1600029"/>
            <a:ext cx="16764000" cy="7386638"/>
          </a:xfrm>
          <a:prstGeom prst="rect">
            <a:avLst/>
          </a:prstGeom>
        </p:spPr>
        <p:txBody>
          <a:bodyPr wrap="square" lIns="0" tIns="0" rIns="0" bIns="0" rtlCol="0" anchor="t">
            <a:spAutoFit/>
          </a:bodyPr>
          <a:lstStyle/>
          <a:p>
            <a:pPr marL="971550" lvl="1" indent="-514350">
              <a:spcBef>
                <a:spcPct val="0"/>
              </a:spcBef>
              <a:buAutoNum type="arabicPeriod"/>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What is OCR?</a:t>
            </a:r>
          </a:p>
          <a:p>
            <a:pPr lvl="1">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OCR (Optical Character Recognition) converts printed or handwritten text images into machine-      	readable text.</a:t>
            </a:r>
          </a:p>
          <a:p>
            <a:pPr lvl="1">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lvl="1">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2. Why handwritten recognition is challenging?</a:t>
            </a:r>
          </a:p>
          <a:p>
            <a:pPr lvl="1">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Handwritten recognition is hard due to style variations, distortions, and inconsistent character 	shapes.</a:t>
            </a:r>
          </a:p>
          <a:p>
            <a:pPr lvl="1">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lvl="1">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3. How CNNs provide a solution?</a:t>
            </a:r>
          </a:p>
          <a:p>
            <a:pPr lvl="1">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CNNs learn features from images automatically, handling handwriting variability with high 	accuracy.</a:t>
            </a:r>
          </a:p>
          <a:p>
            <a:pPr lvl="1">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lvl="1">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4. Goals of NeuraInk:</a:t>
            </a:r>
          </a:p>
          <a:p>
            <a:pPr lvl="1">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NeuraInk aims to build a CNN-based OCR system for accurate and scalable handwritten text 	recognition.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Freeform 2"/>
          <p:cNvSpPr/>
          <p:nvPr/>
        </p:nvSpPr>
        <p:spPr>
          <a:xfrm>
            <a:off x="-862776" y="-3124962"/>
            <a:ext cx="16355952" cy="16022018"/>
          </a:xfrm>
          <a:custGeom>
            <a:avLst/>
            <a:gdLst/>
            <a:ahLst/>
            <a:cxnLst/>
            <a:rect l="l" t="t" r="r" b="b"/>
            <a:pathLst>
              <a:path w="16355952" h="16022018">
                <a:moveTo>
                  <a:pt x="0" y="0"/>
                </a:moveTo>
                <a:lnTo>
                  <a:pt x="16355952" y="0"/>
                </a:lnTo>
                <a:lnTo>
                  <a:pt x="16355952" y="16022017"/>
                </a:lnTo>
                <a:lnTo>
                  <a:pt x="0" y="16022017"/>
                </a:lnTo>
                <a:lnTo>
                  <a:pt x="0" y="0"/>
                </a:lnTo>
                <a:close/>
              </a:path>
            </a:pathLst>
          </a:custGeom>
          <a:blipFill>
            <a:blip r:embed="rId2"/>
            <a:stretch>
              <a:fillRect/>
            </a:stretch>
          </a:blipFill>
        </p:spPr>
        <p:txBody>
          <a:bodyPr/>
          <a:lstStyle/>
          <a:p>
            <a:endParaRPr lang="en-IN" dirty="0">
              <a:latin typeface="Times New Roman" panose="02020603050405020304" pitchFamily="18" charset="0"/>
              <a:cs typeface="Times New Roman" panose="02020603050405020304" pitchFamily="18" charset="0"/>
            </a:endParaRPr>
          </a:p>
        </p:txBody>
      </p:sp>
      <p:sp>
        <p:nvSpPr>
          <p:cNvPr id="6" name="TextBox 6"/>
          <p:cNvSpPr txBox="1"/>
          <p:nvPr/>
        </p:nvSpPr>
        <p:spPr>
          <a:xfrm>
            <a:off x="5606902" y="694977"/>
            <a:ext cx="7074195" cy="1442703"/>
          </a:xfrm>
          <a:prstGeom prst="rect">
            <a:avLst/>
          </a:prstGeom>
        </p:spPr>
        <p:txBody>
          <a:bodyPr wrap="square" lIns="0" tIns="0" rIns="0" bIns="0" rtlCol="0" anchor="t">
            <a:spAutoFit/>
          </a:bodyPr>
          <a:lstStyle/>
          <a:p>
            <a:pPr lvl="0" algn="ctr">
              <a:lnSpc>
                <a:spcPts val="11999"/>
              </a:lnSpc>
              <a:spcBef>
                <a:spcPct val="0"/>
              </a:spcBef>
            </a:pPr>
            <a:r>
              <a:rPr lang="en-US" sz="9600" b="1" dirty="0">
                <a:solidFill>
                  <a:schemeClr val="accent4">
                    <a:lumMod val="60000"/>
                    <a:lumOff val="40000"/>
                  </a:schemeClr>
                </a:solidFill>
                <a:latin typeface="Times New Roman" panose="02020603050405020304" pitchFamily="18" charset="0"/>
                <a:ea typeface="Anantason UltraExpanded Bold"/>
                <a:cs typeface="Times New Roman" panose="02020603050405020304" pitchFamily="18" charset="0"/>
                <a:sym typeface="Anantason UltraExpanded Bold"/>
              </a:rPr>
              <a:t>Features</a:t>
            </a:r>
            <a:endParaRPr lang="en-US" sz="9600" b="1" u="none" strike="noStrike" dirty="0">
              <a:solidFill>
                <a:srgbClr val="78FF87"/>
              </a:solidFill>
              <a:latin typeface="Times New Roman" panose="02020603050405020304" pitchFamily="18" charset="0"/>
              <a:ea typeface="Anantason UltraExpanded Bold"/>
              <a:cs typeface="Times New Roman" panose="02020603050405020304" pitchFamily="18" charset="0"/>
              <a:sym typeface="Anantason UltraExpanded Bold"/>
            </a:endParaRPr>
          </a:p>
        </p:txBody>
      </p:sp>
      <p:grpSp>
        <p:nvGrpSpPr>
          <p:cNvPr id="9" name="Group 8">
            <a:extLst>
              <a:ext uri="{FF2B5EF4-FFF2-40B4-BE49-F238E27FC236}">
                <a16:creationId xmlns:a16="http://schemas.microsoft.com/office/drawing/2014/main" id="{CBC295AC-EF1F-46B0-D65B-506DC76BC334}"/>
              </a:ext>
            </a:extLst>
          </p:cNvPr>
          <p:cNvGrpSpPr/>
          <p:nvPr/>
        </p:nvGrpSpPr>
        <p:grpSpPr>
          <a:xfrm>
            <a:off x="7391400" y="5829300"/>
            <a:ext cx="3124200" cy="2980734"/>
            <a:chOff x="7581900" y="3344273"/>
            <a:chExt cx="3124200" cy="3285245"/>
          </a:xfrm>
        </p:grpSpPr>
        <p:sp>
          <p:nvSpPr>
            <p:cNvPr id="8" name="Oval 7">
              <a:extLst>
                <a:ext uri="{FF2B5EF4-FFF2-40B4-BE49-F238E27FC236}">
                  <a16:creationId xmlns:a16="http://schemas.microsoft.com/office/drawing/2014/main" id="{13D173F5-3116-AADD-2104-DB5B86269A98}"/>
                </a:ext>
              </a:extLst>
            </p:cNvPr>
            <p:cNvSpPr/>
            <p:nvPr/>
          </p:nvSpPr>
          <p:spPr>
            <a:xfrm>
              <a:off x="7581900" y="3344273"/>
              <a:ext cx="3124200" cy="328524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pic>
          <p:nvPicPr>
            <p:cNvPr id="1026" name="Picture 2" descr="Xiaomi PC mode 12.1.125 (noarch) APK Download by Xiaomi Inc. - APKMirror">
              <a:extLst>
                <a:ext uri="{FF2B5EF4-FFF2-40B4-BE49-F238E27FC236}">
                  <a16:creationId xmlns:a16="http://schemas.microsoft.com/office/drawing/2014/main" id="{40ED21EC-7E41-7487-F1E8-28A4D8FBF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8886" y="3911782"/>
              <a:ext cx="2150228" cy="21502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A0A9078F-74FA-4620-EE7B-C5835CE2FD71}"/>
              </a:ext>
            </a:extLst>
          </p:cNvPr>
          <p:cNvGrpSpPr/>
          <p:nvPr/>
        </p:nvGrpSpPr>
        <p:grpSpPr>
          <a:xfrm>
            <a:off x="5452051" y="7429610"/>
            <a:ext cx="1447800" cy="1386864"/>
            <a:chOff x="4765964" y="6896144"/>
            <a:chExt cx="1447800" cy="1386864"/>
          </a:xfrm>
        </p:grpSpPr>
        <p:sp>
          <p:nvSpPr>
            <p:cNvPr id="10" name="Oval 9">
              <a:extLst>
                <a:ext uri="{FF2B5EF4-FFF2-40B4-BE49-F238E27FC236}">
                  <a16:creationId xmlns:a16="http://schemas.microsoft.com/office/drawing/2014/main" id="{A73ACD78-0680-899C-FBA3-BBB643246ABB}"/>
                </a:ext>
              </a:extLst>
            </p:cNvPr>
            <p:cNvSpPr/>
            <p:nvPr/>
          </p:nvSpPr>
          <p:spPr>
            <a:xfrm>
              <a:off x="4765964" y="6896144"/>
              <a:ext cx="1447800" cy="1386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8BD8003A-C72D-065F-AA9C-BD441CEC0FA4}"/>
                </a:ext>
              </a:extLst>
            </p:cNvPr>
            <p:cNvSpPr/>
            <p:nvPr/>
          </p:nvSpPr>
          <p:spPr>
            <a:xfrm>
              <a:off x="5070764" y="7161542"/>
              <a:ext cx="838199" cy="85606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4000" b="1" dirty="0">
                  <a:latin typeface="Times New Roman" panose="02020603050405020304" pitchFamily="18" charset="0"/>
                  <a:cs typeface="Times New Roman" panose="02020603050405020304" pitchFamily="18" charset="0"/>
                </a:rPr>
                <a:t>1</a:t>
              </a:r>
            </a:p>
          </p:txBody>
        </p:sp>
      </p:grpSp>
      <p:grpSp>
        <p:nvGrpSpPr>
          <p:cNvPr id="13" name="Group 12">
            <a:extLst>
              <a:ext uri="{FF2B5EF4-FFF2-40B4-BE49-F238E27FC236}">
                <a16:creationId xmlns:a16="http://schemas.microsoft.com/office/drawing/2014/main" id="{86010796-01D2-5E80-593D-74DCB5FA4D6E}"/>
              </a:ext>
            </a:extLst>
          </p:cNvPr>
          <p:cNvGrpSpPr/>
          <p:nvPr/>
        </p:nvGrpSpPr>
        <p:grpSpPr>
          <a:xfrm>
            <a:off x="10927955" y="5372070"/>
            <a:ext cx="1447800" cy="1386864"/>
            <a:chOff x="4724400" y="7109436"/>
            <a:chExt cx="1447800" cy="1386864"/>
          </a:xfrm>
        </p:grpSpPr>
        <p:sp>
          <p:nvSpPr>
            <p:cNvPr id="14" name="Oval 13">
              <a:extLst>
                <a:ext uri="{FF2B5EF4-FFF2-40B4-BE49-F238E27FC236}">
                  <a16:creationId xmlns:a16="http://schemas.microsoft.com/office/drawing/2014/main" id="{58712DD7-E32A-B921-BB30-A34A5F8B7370}"/>
                </a:ext>
              </a:extLst>
            </p:cNvPr>
            <p:cNvSpPr/>
            <p:nvPr/>
          </p:nvSpPr>
          <p:spPr>
            <a:xfrm>
              <a:off x="4724400" y="7109436"/>
              <a:ext cx="1447800" cy="138686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5" name="Oval 14">
              <a:extLst>
                <a:ext uri="{FF2B5EF4-FFF2-40B4-BE49-F238E27FC236}">
                  <a16:creationId xmlns:a16="http://schemas.microsoft.com/office/drawing/2014/main" id="{C9A85FE3-99F1-A5A7-14D2-4F8E413B4E30}"/>
                </a:ext>
              </a:extLst>
            </p:cNvPr>
            <p:cNvSpPr/>
            <p:nvPr/>
          </p:nvSpPr>
          <p:spPr>
            <a:xfrm>
              <a:off x="5029200" y="7374834"/>
              <a:ext cx="838199" cy="85606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4000" b="1" dirty="0">
                  <a:latin typeface="Times New Roman" panose="02020603050405020304" pitchFamily="18" charset="0"/>
                  <a:cs typeface="Times New Roman" panose="02020603050405020304" pitchFamily="18" charset="0"/>
                </a:rPr>
                <a:t>4</a:t>
              </a:r>
            </a:p>
          </p:txBody>
        </p:sp>
      </p:grpSp>
      <p:grpSp>
        <p:nvGrpSpPr>
          <p:cNvPr id="16" name="Group 15">
            <a:extLst>
              <a:ext uri="{FF2B5EF4-FFF2-40B4-BE49-F238E27FC236}">
                <a16:creationId xmlns:a16="http://schemas.microsoft.com/office/drawing/2014/main" id="{0A9DD64C-B0A5-64B4-C661-CDE993A4CE41}"/>
              </a:ext>
            </a:extLst>
          </p:cNvPr>
          <p:cNvGrpSpPr/>
          <p:nvPr/>
        </p:nvGrpSpPr>
        <p:grpSpPr>
          <a:xfrm>
            <a:off x="8229600" y="4184983"/>
            <a:ext cx="1447800" cy="1386864"/>
            <a:chOff x="4724400" y="7768434"/>
            <a:chExt cx="1447800" cy="1386864"/>
          </a:xfrm>
        </p:grpSpPr>
        <p:sp>
          <p:nvSpPr>
            <p:cNvPr id="17" name="Oval 16">
              <a:extLst>
                <a:ext uri="{FF2B5EF4-FFF2-40B4-BE49-F238E27FC236}">
                  <a16:creationId xmlns:a16="http://schemas.microsoft.com/office/drawing/2014/main" id="{253E59FA-9123-8144-C225-B767B3EB2917}"/>
                </a:ext>
              </a:extLst>
            </p:cNvPr>
            <p:cNvSpPr/>
            <p:nvPr/>
          </p:nvSpPr>
          <p:spPr>
            <a:xfrm>
              <a:off x="4724400" y="7768434"/>
              <a:ext cx="1447800" cy="1386864"/>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322C1C8F-DB2A-3012-77AD-C9C95C2AE837}"/>
                </a:ext>
              </a:extLst>
            </p:cNvPr>
            <p:cNvSpPr/>
            <p:nvPr/>
          </p:nvSpPr>
          <p:spPr>
            <a:xfrm>
              <a:off x="5029200" y="8033832"/>
              <a:ext cx="838199" cy="85606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4000" b="1" dirty="0">
                  <a:latin typeface="Times New Roman" panose="02020603050405020304" pitchFamily="18" charset="0"/>
                  <a:cs typeface="Times New Roman" panose="02020603050405020304" pitchFamily="18" charset="0"/>
                </a:rPr>
                <a:t>3</a:t>
              </a:r>
            </a:p>
          </p:txBody>
        </p:sp>
      </p:grpSp>
      <p:grpSp>
        <p:nvGrpSpPr>
          <p:cNvPr id="19" name="Group 18">
            <a:extLst>
              <a:ext uri="{FF2B5EF4-FFF2-40B4-BE49-F238E27FC236}">
                <a16:creationId xmlns:a16="http://schemas.microsoft.com/office/drawing/2014/main" id="{98FF2C6C-D9CB-3A9B-5D73-C0878BE02A86}"/>
              </a:ext>
            </a:extLst>
          </p:cNvPr>
          <p:cNvGrpSpPr/>
          <p:nvPr/>
        </p:nvGrpSpPr>
        <p:grpSpPr>
          <a:xfrm>
            <a:off x="5677044" y="5429907"/>
            <a:ext cx="1447800" cy="1386864"/>
            <a:chOff x="4724400" y="7109436"/>
            <a:chExt cx="1447800" cy="1386864"/>
          </a:xfrm>
        </p:grpSpPr>
        <p:sp>
          <p:nvSpPr>
            <p:cNvPr id="20" name="Oval 19">
              <a:extLst>
                <a:ext uri="{FF2B5EF4-FFF2-40B4-BE49-F238E27FC236}">
                  <a16:creationId xmlns:a16="http://schemas.microsoft.com/office/drawing/2014/main" id="{830A6023-9EAE-C689-398E-D36BDB2E1282}"/>
                </a:ext>
              </a:extLst>
            </p:cNvPr>
            <p:cNvSpPr/>
            <p:nvPr/>
          </p:nvSpPr>
          <p:spPr>
            <a:xfrm>
              <a:off x="4724400" y="7109436"/>
              <a:ext cx="1447800" cy="138686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1" name="Oval 20">
              <a:extLst>
                <a:ext uri="{FF2B5EF4-FFF2-40B4-BE49-F238E27FC236}">
                  <a16:creationId xmlns:a16="http://schemas.microsoft.com/office/drawing/2014/main" id="{EDA74DCD-5CF0-3A8B-6A25-1746B1C5AB30}"/>
                </a:ext>
              </a:extLst>
            </p:cNvPr>
            <p:cNvSpPr/>
            <p:nvPr/>
          </p:nvSpPr>
          <p:spPr>
            <a:xfrm>
              <a:off x="5029200" y="7374834"/>
              <a:ext cx="838199" cy="85606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4000" b="1" dirty="0">
                  <a:latin typeface="Times New Roman" panose="02020603050405020304" pitchFamily="18" charset="0"/>
                  <a:cs typeface="Times New Roman" panose="02020603050405020304" pitchFamily="18" charset="0"/>
                </a:rPr>
                <a:t>2</a:t>
              </a:r>
            </a:p>
          </p:txBody>
        </p:sp>
      </p:grpSp>
      <p:grpSp>
        <p:nvGrpSpPr>
          <p:cNvPr id="25" name="Group 24">
            <a:extLst>
              <a:ext uri="{FF2B5EF4-FFF2-40B4-BE49-F238E27FC236}">
                <a16:creationId xmlns:a16="http://schemas.microsoft.com/office/drawing/2014/main" id="{69EED756-BF89-9376-F066-09240D664256}"/>
              </a:ext>
            </a:extLst>
          </p:cNvPr>
          <p:cNvGrpSpPr/>
          <p:nvPr/>
        </p:nvGrpSpPr>
        <p:grpSpPr>
          <a:xfrm>
            <a:off x="11137018" y="7431773"/>
            <a:ext cx="1447800" cy="1386864"/>
            <a:chOff x="4724400" y="7109436"/>
            <a:chExt cx="1447800" cy="1386864"/>
          </a:xfrm>
        </p:grpSpPr>
        <p:sp>
          <p:nvSpPr>
            <p:cNvPr id="26" name="Oval 25">
              <a:extLst>
                <a:ext uri="{FF2B5EF4-FFF2-40B4-BE49-F238E27FC236}">
                  <a16:creationId xmlns:a16="http://schemas.microsoft.com/office/drawing/2014/main" id="{783F110B-E81A-AEEB-B922-B91D0BE594D5}"/>
                </a:ext>
              </a:extLst>
            </p:cNvPr>
            <p:cNvSpPr/>
            <p:nvPr/>
          </p:nvSpPr>
          <p:spPr>
            <a:xfrm>
              <a:off x="4724400" y="7109436"/>
              <a:ext cx="1447800" cy="1386864"/>
            </a:xfrm>
            <a:prstGeom prst="ellips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7" name="Oval 26">
              <a:extLst>
                <a:ext uri="{FF2B5EF4-FFF2-40B4-BE49-F238E27FC236}">
                  <a16:creationId xmlns:a16="http://schemas.microsoft.com/office/drawing/2014/main" id="{6940CF32-C6B7-AA27-7F8B-FFBA45C9F9C9}"/>
                </a:ext>
              </a:extLst>
            </p:cNvPr>
            <p:cNvSpPr/>
            <p:nvPr/>
          </p:nvSpPr>
          <p:spPr>
            <a:xfrm>
              <a:off x="5029200" y="7374834"/>
              <a:ext cx="838199" cy="85606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4000" b="1" dirty="0">
                  <a:latin typeface="Times New Roman" panose="02020603050405020304" pitchFamily="18" charset="0"/>
                  <a:cs typeface="Times New Roman" panose="02020603050405020304" pitchFamily="18" charset="0"/>
                </a:rPr>
                <a:t>5</a:t>
              </a:r>
            </a:p>
          </p:txBody>
        </p:sp>
      </p:grpSp>
      <p:sp>
        <p:nvSpPr>
          <p:cNvPr id="29" name="Rectangle: Rounded Corners 28">
            <a:extLst>
              <a:ext uri="{FF2B5EF4-FFF2-40B4-BE49-F238E27FC236}">
                <a16:creationId xmlns:a16="http://schemas.microsoft.com/office/drawing/2014/main" id="{5200BA3E-96AB-C9FC-0564-009F1EBB1992}"/>
              </a:ext>
            </a:extLst>
          </p:cNvPr>
          <p:cNvSpPr/>
          <p:nvPr/>
        </p:nvSpPr>
        <p:spPr>
          <a:xfrm>
            <a:off x="344485" y="7819869"/>
            <a:ext cx="4802765" cy="80459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b="1" dirty="0">
              <a:solidFill>
                <a:schemeClr val="tx1"/>
              </a:solidFill>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 Draw handwritten characters using a brush canvas</a:t>
            </a:r>
          </a:p>
          <a:p>
            <a:pPr algn="ct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30" name="Rectangle: Rounded Corners 29">
            <a:extLst>
              <a:ext uri="{FF2B5EF4-FFF2-40B4-BE49-F238E27FC236}">
                <a16:creationId xmlns:a16="http://schemas.microsoft.com/office/drawing/2014/main" id="{D6185807-1A8E-2A8F-6F58-A1705F176641}"/>
              </a:ext>
            </a:extLst>
          </p:cNvPr>
          <p:cNvSpPr/>
          <p:nvPr/>
        </p:nvSpPr>
        <p:spPr>
          <a:xfrm>
            <a:off x="579310" y="5829300"/>
            <a:ext cx="4802765" cy="80459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 Use your webcam for real-time handwriting recognition</a:t>
            </a:r>
          </a:p>
        </p:txBody>
      </p:sp>
      <p:sp>
        <p:nvSpPr>
          <p:cNvPr id="31" name="Rectangle: Rounded Corners 30">
            <a:extLst>
              <a:ext uri="{FF2B5EF4-FFF2-40B4-BE49-F238E27FC236}">
                <a16:creationId xmlns:a16="http://schemas.microsoft.com/office/drawing/2014/main" id="{49E0DF5F-8C28-80DF-C109-D60779D40866}"/>
              </a:ext>
            </a:extLst>
          </p:cNvPr>
          <p:cNvSpPr/>
          <p:nvPr/>
        </p:nvSpPr>
        <p:spPr>
          <a:xfrm>
            <a:off x="6742616" y="3073970"/>
            <a:ext cx="4802765" cy="80459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 Trained on EMNIST ByClass (62 classes: A-Z, a-z, 0-9)</a:t>
            </a:r>
          </a:p>
        </p:txBody>
      </p:sp>
      <p:sp>
        <p:nvSpPr>
          <p:cNvPr id="33" name="Rectangle: Rounded Corners 32">
            <a:extLst>
              <a:ext uri="{FF2B5EF4-FFF2-40B4-BE49-F238E27FC236}">
                <a16:creationId xmlns:a16="http://schemas.microsoft.com/office/drawing/2014/main" id="{0CD02E4D-9ADA-97AC-8374-75C70165EF19}"/>
              </a:ext>
            </a:extLst>
          </p:cNvPr>
          <p:cNvSpPr/>
          <p:nvPr/>
        </p:nvSpPr>
        <p:spPr>
          <a:xfrm>
            <a:off x="12751239" y="5495770"/>
            <a:ext cx="4802765" cy="80459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 Save your drawn image</a:t>
            </a:r>
          </a:p>
        </p:txBody>
      </p:sp>
      <p:sp>
        <p:nvSpPr>
          <p:cNvPr id="34" name="Rectangle: Rounded Corners 33">
            <a:extLst>
              <a:ext uri="{FF2B5EF4-FFF2-40B4-BE49-F238E27FC236}">
                <a16:creationId xmlns:a16="http://schemas.microsoft.com/office/drawing/2014/main" id="{8080181E-1843-9DCD-E56D-B60BA3D50955}"/>
              </a:ext>
            </a:extLst>
          </p:cNvPr>
          <p:cNvSpPr/>
          <p:nvPr/>
        </p:nvSpPr>
        <p:spPr>
          <a:xfrm>
            <a:off x="13171600" y="7634299"/>
            <a:ext cx="4802765" cy="117573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 Seamlessly switch between modes using the GUI and keyboard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a:extLst>
            <a:ext uri="{FF2B5EF4-FFF2-40B4-BE49-F238E27FC236}">
              <a16:creationId xmlns:a16="http://schemas.microsoft.com/office/drawing/2014/main" id="{B1E0ECAA-C35F-F5B0-999F-55EC720ACB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9AD41A-0058-F83A-2746-ECB22E68BDFD}"/>
              </a:ext>
            </a:extLst>
          </p:cNvPr>
          <p:cNvSpPr/>
          <p:nvPr/>
        </p:nvSpPr>
        <p:spPr>
          <a:xfrm>
            <a:off x="-2895600" y="-2476500"/>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3" name="Freeform 3">
            <a:extLst>
              <a:ext uri="{FF2B5EF4-FFF2-40B4-BE49-F238E27FC236}">
                <a16:creationId xmlns:a16="http://schemas.microsoft.com/office/drawing/2014/main" id="{6FFCD6B4-B716-AD49-3D27-87D4F27A15A3}"/>
              </a:ext>
            </a:extLst>
          </p:cNvPr>
          <p:cNvSpPr/>
          <p:nvPr/>
        </p:nvSpPr>
        <p:spPr>
          <a:xfrm>
            <a:off x="1923995" y="7402539"/>
            <a:ext cx="13521434" cy="3711521"/>
          </a:xfrm>
          <a:custGeom>
            <a:avLst/>
            <a:gdLst/>
            <a:ahLst/>
            <a:cxnLst/>
            <a:rect l="l" t="t" r="r" b="b"/>
            <a:pathLst>
              <a:path w="13521434" h="3711521">
                <a:moveTo>
                  <a:pt x="0" y="0"/>
                </a:moveTo>
                <a:lnTo>
                  <a:pt x="13521434" y="0"/>
                </a:lnTo>
                <a:lnTo>
                  <a:pt x="13521434" y="3711522"/>
                </a:lnTo>
                <a:lnTo>
                  <a:pt x="0" y="37115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TextBox 15">
            <a:extLst>
              <a:ext uri="{FF2B5EF4-FFF2-40B4-BE49-F238E27FC236}">
                <a16:creationId xmlns:a16="http://schemas.microsoft.com/office/drawing/2014/main" id="{72A26383-7A68-BEA9-AE4F-2A286C665959}"/>
              </a:ext>
            </a:extLst>
          </p:cNvPr>
          <p:cNvSpPr txBox="1"/>
          <p:nvPr/>
        </p:nvSpPr>
        <p:spPr>
          <a:xfrm>
            <a:off x="1752600" y="3162300"/>
            <a:ext cx="15925800" cy="3447098"/>
          </a:xfrm>
          <a:prstGeom prst="rect">
            <a:avLst/>
          </a:prstGeom>
        </p:spPr>
        <p:txBody>
          <a:bodyPr wrap="square" lIns="0" tIns="0" rIns="0" bIns="0" rtlCol="0" anchor="t">
            <a:spAutoFit/>
          </a:bodyPr>
          <a:lstStyle/>
          <a:p>
            <a:pPr>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Handwritten characters vary widely in style, size, and shape, making traditional OCR systems inaccurate and inefficient. The challenge is to develop an intelligent model that can accurately recognize and classify handwritten digits and alphabets, even when the input is distorted or non-uniform.</a:t>
            </a:r>
          </a:p>
          <a:p>
            <a:pPr>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NeuraInk aims to solve this by using a Convolutional Neural Network (CNN) that can learn visual patterns directly from data and handle the variability in handwriting</a:t>
            </a:r>
          </a:p>
        </p:txBody>
      </p:sp>
      <p:sp>
        <p:nvSpPr>
          <p:cNvPr id="4" name="TextBox 12">
            <a:extLst>
              <a:ext uri="{FF2B5EF4-FFF2-40B4-BE49-F238E27FC236}">
                <a16:creationId xmlns:a16="http://schemas.microsoft.com/office/drawing/2014/main" id="{40AB5547-CF4B-7FA2-2BF9-E957249F6605}"/>
              </a:ext>
            </a:extLst>
          </p:cNvPr>
          <p:cNvSpPr txBox="1"/>
          <p:nvPr/>
        </p:nvSpPr>
        <p:spPr>
          <a:xfrm>
            <a:off x="5972175" y="1104900"/>
            <a:ext cx="6343650" cy="769441"/>
          </a:xfrm>
          <a:prstGeom prst="rect">
            <a:avLst/>
          </a:prstGeom>
        </p:spPr>
        <p:txBody>
          <a:bodyPr wrap="square" lIns="0" tIns="0" rIns="0" bIns="0" rtlCol="0" anchor="t">
            <a:spAutoFit/>
          </a:bodyPr>
          <a:lstStyle/>
          <a:p>
            <a:pPr lvl="0">
              <a:lnSpc>
                <a:spcPts val="6000"/>
              </a:lnSpc>
              <a:spcBef>
                <a:spcPct val="0"/>
              </a:spcBef>
            </a:pPr>
            <a:r>
              <a:rPr lang="en-US" sz="6000" b="1" dirty="0">
                <a:solidFill>
                  <a:schemeClr val="accent4">
                    <a:lumMod val="60000"/>
                    <a:lumOff val="40000"/>
                  </a:schemeClr>
                </a:solidFill>
                <a:latin typeface="Times New Roman" panose="02020603050405020304" pitchFamily="18" charset="0"/>
                <a:ea typeface="Anantason UltraExpanded Bold"/>
                <a:cs typeface="Times New Roman" panose="02020603050405020304" pitchFamily="18" charset="0"/>
                <a:sym typeface="Anantason UltraExpanded Bold"/>
              </a:rPr>
              <a:t>Problem Statement</a:t>
            </a:r>
            <a:endParaRPr lang="en-US" sz="6000" b="1" dirty="0">
              <a:solidFill>
                <a:srgbClr val="78FF87"/>
              </a:solidFill>
              <a:latin typeface="Times New Roman" panose="02020603050405020304" pitchFamily="18" charset="0"/>
              <a:ea typeface="Anantason UltraExpanded Bold"/>
              <a:cs typeface="Times New Roman" panose="02020603050405020304" pitchFamily="18" charset="0"/>
              <a:sym typeface="Anantason UltraExpanded Bold"/>
            </a:endParaRPr>
          </a:p>
        </p:txBody>
      </p:sp>
    </p:spTree>
    <p:extLst>
      <p:ext uri="{BB962C8B-B14F-4D97-AF65-F5344CB8AC3E}">
        <p14:creationId xmlns:p14="http://schemas.microsoft.com/office/powerpoint/2010/main" val="2499511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Freeform 2"/>
          <p:cNvSpPr/>
          <p:nvPr/>
        </p:nvSpPr>
        <p:spPr>
          <a:xfrm>
            <a:off x="-4114800" y="-1485900"/>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3" name="Freeform 3"/>
          <p:cNvSpPr/>
          <p:nvPr/>
        </p:nvSpPr>
        <p:spPr>
          <a:xfrm>
            <a:off x="6088284" y="8614109"/>
            <a:ext cx="13496441" cy="3711521"/>
          </a:xfrm>
          <a:custGeom>
            <a:avLst/>
            <a:gdLst/>
            <a:ahLst/>
            <a:cxnLst/>
            <a:rect l="l" t="t" r="r" b="b"/>
            <a:pathLst>
              <a:path w="13496441" h="3711521">
                <a:moveTo>
                  <a:pt x="0" y="0"/>
                </a:moveTo>
                <a:lnTo>
                  <a:pt x="13496441" y="0"/>
                </a:lnTo>
                <a:lnTo>
                  <a:pt x="13496441" y="3711522"/>
                </a:lnTo>
                <a:lnTo>
                  <a:pt x="0" y="37115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latin typeface="Times New Roman" panose="02020603050405020304" pitchFamily="18" charset="0"/>
              <a:cs typeface="Times New Roman" panose="02020603050405020304" pitchFamily="18" charset="0"/>
            </a:endParaRPr>
          </a:p>
        </p:txBody>
      </p:sp>
      <p:sp>
        <p:nvSpPr>
          <p:cNvPr id="12" name="TextBox 12"/>
          <p:cNvSpPr txBox="1"/>
          <p:nvPr/>
        </p:nvSpPr>
        <p:spPr>
          <a:xfrm>
            <a:off x="6591299" y="1184820"/>
            <a:ext cx="5105400" cy="769441"/>
          </a:xfrm>
          <a:prstGeom prst="rect">
            <a:avLst/>
          </a:prstGeom>
        </p:spPr>
        <p:txBody>
          <a:bodyPr wrap="square" lIns="0" tIns="0" rIns="0" bIns="0" rtlCol="0" anchor="t">
            <a:spAutoFit/>
          </a:bodyPr>
          <a:lstStyle/>
          <a:p>
            <a:pPr lvl="0">
              <a:lnSpc>
                <a:spcPts val="6000"/>
              </a:lnSpc>
              <a:spcBef>
                <a:spcPct val="0"/>
              </a:spcBef>
            </a:pPr>
            <a:r>
              <a:rPr lang="en-US" sz="6000" b="1" dirty="0">
                <a:solidFill>
                  <a:srgbClr val="78FF87"/>
                </a:solidFill>
                <a:latin typeface="Times New Roman" panose="02020603050405020304" pitchFamily="18" charset="0"/>
                <a:ea typeface="Anantason UltraExpanded Bold"/>
                <a:cs typeface="Times New Roman" panose="02020603050405020304" pitchFamily="18" charset="0"/>
                <a:sym typeface="Anantason UltraExpanded Bold"/>
              </a:rPr>
              <a:t> </a:t>
            </a:r>
            <a:r>
              <a:rPr lang="en-US" sz="6000" b="1" dirty="0">
                <a:solidFill>
                  <a:schemeClr val="accent4">
                    <a:lumMod val="60000"/>
                    <a:lumOff val="40000"/>
                  </a:schemeClr>
                </a:solidFill>
                <a:latin typeface="Times New Roman" panose="02020603050405020304" pitchFamily="18" charset="0"/>
                <a:ea typeface="Anantason UltraExpanded Bold"/>
                <a:cs typeface="Times New Roman" panose="02020603050405020304" pitchFamily="18" charset="0"/>
                <a:sym typeface="Anantason UltraExpanded Bold"/>
              </a:rPr>
              <a:t>Database Used</a:t>
            </a:r>
            <a:endParaRPr lang="en-US" sz="6000" b="1" dirty="0">
              <a:solidFill>
                <a:srgbClr val="78FF87"/>
              </a:solidFill>
              <a:latin typeface="Times New Roman" panose="02020603050405020304" pitchFamily="18" charset="0"/>
              <a:ea typeface="Anantason UltraExpanded Bold"/>
              <a:cs typeface="Times New Roman" panose="02020603050405020304" pitchFamily="18" charset="0"/>
              <a:sym typeface="Anantason UltraExpanded Bold"/>
            </a:endParaRPr>
          </a:p>
        </p:txBody>
      </p:sp>
      <p:sp>
        <p:nvSpPr>
          <p:cNvPr id="14" name="TextBox 14"/>
          <p:cNvSpPr txBox="1"/>
          <p:nvPr/>
        </p:nvSpPr>
        <p:spPr>
          <a:xfrm>
            <a:off x="1319587" y="3122055"/>
            <a:ext cx="15648825" cy="3939540"/>
          </a:xfrm>
          <a:prstGeom prst="rect">
            <a:avLst/>
          </a:prstGeom>
        </p:spPr>
        <p:txBody>
          <a:bodyPr wrap="square" lIns="0" tIns="0" rIns="0" bIns="0" rtlCol="0" anchor="t">
            <a:spAutoFit/>
          </a:bodyPr>
          <a:lstStyle/>
          <a:p>
            <a:pPr marL="742950" indent="-742950">
              <a:spcBef>
                <a:spcPct val="0"/>
              </a:spcBef>
              <a:buAutoNum type="arabicPeriod"/>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EMNIST (Extended MNIST)Content: Handwritten digits (0–9) and characters (A–Z, a–z)</a:t>
            </a:r>
          </a:p>
          <a:p>
            <a:pPr marL="742950" indent="-742950">
              <a:spcBef>
                <a:spcPct val="0"/>
              </a:spcBef>
              <a:buAutoNum type="arabicPeriod"/>
            </a:pPr>
            <a:endParaRPr lang="en-US" sz="3200" dirty="0">
              <a:solidFill>
                <a:srgbClr val="FFFFFF"/>
              </a:solidFill>
              <a:latin typeface="Times New Roman" panose="02020603050405020304" pitchFamily="18" charset="0"/>
              <a:ea typeface="Codec Pro"/>
              <a:cs typeface="Times New Roman" panose="02020603050405020304" pitchFamily="18" charset="0"/>
              <a:sym typeface="Codec Pro"/>
            </a:endParaRPr>
          </a:p>
          <a:p>
            <a:pPr marL="742950" indent="-742950">
              <a:spcBef>
                <a:spcPct val="0"/>
              </a:spcBef>
              <a:buAutoNum type="arabicPeriod"/>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Classes: [ByClass] Up to 62 classes (10 digits + 26 uppercase + 26 lowercase letters)</a:t>
            </a:r>
          </a:p>
          <a:p>
            <a:pPr marL="742950" indent="-742950">
              <a:spcBef>
                <a:spcPct val="0"/>
              </a:spcBef>
              <a:buAutoNum type="arabicPeriod"/>
            </a:pPr>
            <a:endParaRPr lang="en-US" sz="3200" dirty="0">
              <a:solidFill>
                <a:srgbClr val="FFFFFF"/>
              </a:solidFill>
              <a:latin typeface="Times New Roman" panose="02020603050405020304" pitchFamily="18" charset="0"/>
              <a:ea typeface="Codec Pro"/>
              <a:cs typeface="Times New Roman" panose="02020603050405020304" pitchFamily="18" charset="0"/>
              <a:sym typeface="Codec Pro"/>
            </a:endParaRPr>
          </a:p>
          <a:p>
            <a:pPr marL="742950" indent="-742950">
              <a:spcBef>
                <a:spcPct val="0"/>
              </a:spcBef>
              <a:buAutoNum type="arabicPeriod"/>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Format: Same as MNIST (28×28 grayscale images)</a:t>
            </a:r>
          </a:p>
          <a:p>
            <a:pPr marL="742950" indent="-742950">
              <a:spcBef>
                <a:spcPct val="0"/>
              </a:spcBef>
              <a:buAutoNum type="arabicPeriod"/>
            </a:pPr>
            <a:endParaRPr lang="en-US" sz="3200" dirty="0">
              <a:solidFill>
                <a:srgbClr val="FFFFFF"/>
              </a:solidFill>
              <a:latin typeface="Times New Roman" panose="02020603050405020304" pitchFamily="18" charset="0"/>
              <a:ea typeface="Codec Pro"/>
              <a:cs typeface="Times New Roman" panose="02020603050405020304" pitchFamily="18" charset="0"/>
              <a:sym typeface="Codec Pro"/>
            </a:endParaRPr>
          </a:p>
          <a:p>
            <a:pPr marL="742950" indent="-742950">
              <a:spcBef>
                <a:spcPct val="0"/>
              </a:spcBef>
              <a:buAutoNum type="arabicPeriod"/>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Variants EMNIST 814,255 Characters : ByClass (All Characters and Numbers), </a:t>
            </a:r>
            <a:r>
              <a:rPr lang="en-US" sz="3200" dirty="0" err="1">
                <a:solidFill>
                  <a:srgbClr val="FFFFFF"/>
                </a:solidFill>
                <a:latin typeface="Times New Roman" panose="02020603050405020304" pitchFamily="18" charset="0"/>
                <a:ea typeface="Codec Pro"/>
                <a:cs typeface="Times New Roman" panose="02020603050405020304" pitchFamily="18" charset="0"/>
                <a:sym typeface="Codec Pro"/>
              </a:rPr>
              <a:t>ByMerge</a:t>
            </a: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 Balanced.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TextBox 2"/>
          <p:cNvSpPr txBox="1"/>
          <p:nvPr/>
        </p:nvSpPr>
        <p:spPr>
          <a:xfrm>
            <a:off x="6629400" y="2247900"/>
            <a:ext cx="10210800" cy="6368410"/>
          </a:xfrm>
          <a:prstGeom prst="rect">
            <a:avLst/>
          </a:prstGeom>
        </p:spPr>
        <p:txBody>
          <a:bodyPr wrap="square" lIns="0" tIns="0" rIns="0" bIns="0" rtlCol="0" anchor="t">
            <a:spAutoFit/>
          </a:bodyPr>
          <a:lstStyle/>
          <a:p>
            <a:pPr marL="514350" indent="-514350">
              <a:lnSpc>
                <a:spcPts val="3119"/>
              </a:lnSpc>
              <a:buAutoNum type="arabicPeriod"/>
            </a:pPr>
            <a:r>
              <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rPr>
              <a:t>Input Image – 28×28 grayscale handwritten digit or letter</a:t>
            </a:r>
          </a:p>
          <a:p>
            <a:pPr marL="514350" indent="-514350">
              <a:lnSpc>
                <a:spcPts val="3119"/>
              </a:lnSpc>
              <a:buAutoNum type="arabicPeriod"/>
            </a:pPr>
            <a:endPar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endParaRPr>
          </a:p>
          <a:p>
            <a:pPr marL="514350" indent="-514350">
              <a:lnSpc>
                <a:spcPts val="3119"/>
              </a:lnSpc>
              <a:buAutoNum type="arabicPeriod"/>
            </a:pPr>
            <a:r>
              <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rPr>
              <a:t>Preprocessing – Normalize and resize the image</a:t>
            </a:r>
          </a:p>
          <a:p>
            <a:pPr marL="514350" indent="-514350">
              <a:lnSpc>
                <a:spcPts val="3119"/>
              </a:lnSpc>
              <a:buAutoNum type="arabicPeriod"/>
            </a:pPr>
            <a:endPar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endParaRPr>
          </a:p>
          <a:p>
            <a:pPr marL="514350" indent="-514350">
              <a:lnSpc>
                <a:spcPts val="3119"/>
              </a:lnSpc>
              <a:buAutoNum type="arabicPeriod"/>
            </a:pPr>
            <a:r>
              <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rPr>
              <a:t>Feature Extraction – 3x Conv2D layers with ReLU</a:t>
            </a:r>
          </a:p>
          <a:p>
            <a:pPr marL="514350" indent="-514350">
              <a:lnSpc>
                <a:spcPts val="3119"/>
              </a:lnSpc>
              <a:buAutoNum type="arabicPeriod"/>
            </a:pPr>
            <a:endPar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endParaRPr>
          </a:p>
          <a:p>
            <a:pPr marL="514350" indent="-514350">
              <a:lnSpc>
                <a:spcPts val="3119"/>
              </a:lnSpc>
              <a:buAutoNum type="arabicPeriod"/>
            </a:pPr>
            <a:r>
              <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rPr>
              <a:t>Regularization – BatchNorm + Dropout to improve training</a:t>
            </a:r>
          </a:p>
          <a:p>
            <a:pPr marL="514350" indent="-514350">
              <a:lnSpc>
                <a:spcPts val="3119"/>
              </a:lnSpc>
              <a:buAutoNum type="arabicPeriod"/>
            </a:pPr>
            <a:endPar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endParaRPr>
          </a:p>
          <a:p>
            <a:pPr marL="514350" indent="-514350">
              <a:lnSpc>
                <a:spcPts val="3119"/>
              </a:lnSpc>
              <a:buAutoNum type="arabicPeriod"/>
            </a:pPr>
            <a:r>
              <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rPr>
              <a:t>Flatten + Dense Layer – 512 units with L2 regularization</a:t>
            </a:r>
          </a:p>
          <a:p>
            <a:pPr marL="514350" indent="-514350">
              <a:lnSpc>
                <a:spcPts val="3119"/>
              </a:lnSpc>
              <a:buAutoNum type="arabicPeriod"/>
            </a:pPr>
            <a:endPar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endParaRPr>
          </a:p>
          <a:p>
            <a:pPr marL="514350" indent="-514350">
              <a:lnSpc>
                <a:spcPts val="3119"/>
              </a:lnSpc>
              <a:buAutoNum type="arabicPeriod"/>
            </a:pPr>
            <a:r>
              <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rPr>
              <a:t>Output Layer – SoftMax for 62-class prediction</a:t>
            </a:r>
          </a:p>
          <a:p>
            <a:pPr marL="514350" indent="-514350">
              <a:lnSpc>
                <a:spcPts val="3119"/>
              </a:lnSpc>
              <a:buAutoNum type="arabicPeriod"/>
            </a:pPr>
            <a:endPar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endParaRPr>
          </a:p>
          <a:p>
            <a:pPr marL="514350" indent="-514350">
              <a:lnSpc>
                <a:spcPts val="3119"/>
              </a:lnSpc>
              <a:buAutoNum type="arabicPeriod"/>
            </a:pPr>
            <a:r>
              <a:rPr lang="en-US" sz="3200" b="1" dirty="0">
                <a:solidFill>
                  <a:schemeClr val="bg1"/>
                </a:solidFill>
                <a:latin typeface="Times New Roman" panose="02020603050405020304" pitchFamily="18" charset="0"/>
                <a:ea typeface="Codec Pro Bold"/>
                <a:cs typeface="Times New Roman" panose="02020603050405020304" pitchFamily="18" charset="0"/>
                <a:sym typeface="Codec Pro Bold"/>
              </a:rPr>
              <a:t>Optimizer – Adam with learning rate scheduling</a:t>
            </a:r>
            <a:endParaRPr lang="en-US" sz="3200" dirty="0">
              <a:solidFill>
                <a:schemeClr val="bg1"/>
              </a:solidFill>
              <a:latin typeface="Times New Roman" panose="02020603050405020304" pitchFamily="18" charset="0"/>
              <a:ea typeface="Codec Pro"/>
              <a:cs typeface="Times New Roman" panose="02020603050405020304" pitchFamily="18" charset="0"/>
              <a:sym typeface="Codec Pro"/>
            </a:endParaRPr>
          </a:p>
        </p:txBody>
      </p:sp>
      <p:sp>
        <p:nvSpPr>
          <p:cNvPr id="5" name="TextBox 12">
            <a:extLst>
              <a:ext uri="{FF2B5EF4-FFF2-40B4-BE49-F238E27FC236}">
                <a16:creationId xmlns:a16="http://schemas.microsoft.com/office/drawing/2014/main" id="{30DE2A3C-206B-B60E-C262-2D6CF1F03D94}"/>
              </a:ext>
            </a:extLst>
          </p:cNvPr>
          <p:cNvSpPr txBox="1"/>
          <p:nvPr/>
        </p:nvSpPr>
        <p:spPr>
          <a:xfrm>
            <a:off x="3522217" y="723900"/>
            <a:ext cx="10591800" cy="769441"/>
          </a:xfrm>
          <a:prstGeom prst="rect">
            <a:avLst/>
          </a:prstGeom>
        </p:spPr>
        <p:txBody>
          <a:bodyPr wrap="square" lIns="0" tIns="0" rIns="0" bIns="0" rtlCol="0" anchor="t">
            <a:spAutoFit/>
          </a:bodyPr>
          <a:lstStyle/>
          <a:p>
            <a:pPr lvl="0">
              <a:lnSpc>
                <a:spcPts val="6000"/>
              </a:lnSpc>
              <a:spcBef>
                <a:spcPct val="0"/>
              </a:spcBef>
            </a:pPr>
            <a:r>
              <a:rPr lang="en-US" sz="6000" b="1" dirty="0">
                <a:solidFill>
                  <a:schemeClr val="accent4">
                    <a:lumMod val="60000"/>
                    <a:lumOff val="40000"/>
                  </a:schemeClr>
                </a:solidFill>
                <a:latin typeface="Times New Roman" panose="02020603050405020304" pitchFamily="18" charset="0"/>
                <a:ea typeface="Anantason UltraExpanded Bold"/>
                <a:cs typeface="Times New Roman" panose="02020603050405020304" pitchFamily="18" charset="0"/>
                <a:sym typeface="Anantason UltraExpanded Bold"/>
              </a:rPr>
              <a:t>System Architecture / Workflow</a:t>
            </a:r>
            <a:endParaRPr lang="en-US" sz="6000" b="1" dirty="0">
              <a:solidFill>
                <a:srgbClr val="78FF87"/>
              </a:solidFill>
              <a:latin typeface="Times New Roman" panose="02020603050405020304" pitchFamily="18" charset="0"/>
              <a:ea typeface="Anantason UltraExpanded Bold"/>
              <a:cs typeface="Times New Roman" panose="02020603050405020304" pitchFamily="18" charset="0"/>
              <a:sym typeface="Anantason UltraExpanded Bold"/>
            </a:endParaRPr>
          </a:p>
        </p:txBody>
      </p:sp>
      <p:pic>
        <p:nvPicPr>
          <p:cNvPr id="7" name="Picture 6">
            <a:extLst>
              <a:ext uri="{FF2B5EF4-FFF2-40B4-BE49-F238E27FC236}">
                <a16:creationId xmlns:a16="http://schemas.microsoft.com/office/drawing/2014/main" id="{B40C2AC9-C4AF-D4EA-30A2-E22792955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247900"/>
            <a:ext cx="5715000" cy="6368410"/>
          </a:xfrm>
          <a:prstGeom prst="rect">
            <a:avLst/>
          </a:prstGeom>
        </p:spPr>
      </p:pic>
      <p:sp>
        <p:nvSpPr>
          <p:cNvPr id="9" name="Freeform 3">
            <a:extLst>
              <a:ext uri="{FF2B5EF4-FFF2-40B4-BE49-F238E27FC236}">
                <a16:creationId xmlns:a16="http://schemas.microsoft.com/office/drawing/2014/main" id="{30DD22A5-5FA7-F630-459C-67EA9F5B5B77}"/>
              </a:ext>
            </a:extLst>
          </p:cNvPr>
          <p:cNvSpPr/>
          <p:nvPr/>
        </p:nvSpPr>
        <p:spPr>
          <a:xfrm>
            <a:off x="2057400" y="9029700"/>
            <a:ext cx="13521434" cy="3711521"/>
          </a:xfrm>
          <a:custGeom>
            <a:avLst/>
            <a:gdLst/>
            <a:ahLst/>
            <a:cxnLst/>
            <a:rect l="l" t="t" r="r" b="b"/>
            <a:pathLst>
              <a:path w="13521434" h="3711521">
                <a:moveTo>
                  <a:pt x="0" y="0"/>
                </a:moveTo>
                <a:lnTo>
                  <a:pt x="13521434" y="0"/>
                </a:lnTo>
                <a:lnTo>
                  <a:pt x="13521434" y="3711522"/>
                </a:lnTo>
                <a:lnTo>
                  <a:pt x="0" y="37115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2">
            <a:extLst>
              <a:ext uri="{FF2B5EF4-FFF2-40B4-BE49-F238E27FC236}">
                <a16:creationId xmlns:a16="http://schemas.microsoft.com/office/drawing/2014/main" id="{CA049A10-F135-D3CC-AD0F-96A5D9F8E7AD}"/>
              </a:ext>
            </a:extLst>
          </p:cNvPr>
          <p:cNvSpPr/>
          <p:nvPr/>
        </p:nvSpPr>
        <p:spPr>
          <a:xfrm>
            <a:off x="13868400" y="-2095500"/>
            <a:ext cx="7492176"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5"/>
            <a:stretch>
              <a:fillRect/>
            </a:stretch>
          </a:blipFill>
        </p:spPr>
        <p:txBody>
          <a:bodyPr/>
          <a:lstStyle/>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Freeform 2"/>
          <p:cNvSpPr/>
          <p:nvPr/>
        </p:nvSpPr>
        <p:spPr>
          <a:xfrm>
            <a:off x="5257800" y="-2552700"/>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txBody>
          <a:bodyPr/>
          <a:lstStyle/>
          <a:p>
            <a:endParaRPr lang="en-IN" dirty="0">
              <a:latin typeface="Times New Roman" panose="02020603050405020304" pitchFamily="18" charset="0"/>
              <a:cs typeface="Times New Roman" panose="02020603050405020304" pitchFamily="18" charset="0"/>
            </a:endParaRPr>
          </a:p>
        </p:txBody>
      </p:sp>
      <p:sp>
        <p:nvSpPr>
          <p:cNvPr id="3" name="Freeform 3"/>
          <p:cNvSpPr/>
          <p:nvPr/>
        </p:nvSpPr>
        <p:spPr>
          <a:xfrm>
            <a:off x="609600" y="2427627"/>
            <a:ext cx="6484649" cy="6496461"/>
          </a:xfrm>
          <a:custGeom>
            <a:avLst/>
            <a:gdLst/>
            <a:ahLst/>
            <a:cxnLst/>
            <a:rect l="l" t="t" r="r" b="b"/>
            <a:pathLst>
              <a:path w="6484649" h="6496461">
                <a:moveTo>
                  <a:pt x="0" y="0"/>
                </a:moveTo>
                <a:lnTo>
                  <a:pt x="6484649" y="0"/>
                </a:lnTo>
                <a:lnTo>
                  <a:pt x="6484649" y="6496461"/>
                </a:lnTo>
                <a:lnTo>
                  <a:pt x="0" y="64964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7843644" y="2400300"/>
            <a:ext cx="9468920" cy="6894195"/>
          </a:xfrm>
          <a:prstGeom prst="rect">
            <a:avLst/>
          </a:prstGeom>
        </p:spPr>
        <p:txBody>
          <a:bodyPr lIns="0" tIns="0" rIns="0" bIns="0" rtlCol="0" anchor="t">
            <a:spAutoFit/>
          </a:bodyPr>
          <a:lstStyle/>
          <a:p>
            <a:pPr marL="457200" indent="-457200">
              <a:buFont typeface="Arial" panose="020B0604020202020204" pitchFamily="34" charset="0"/>
              <a:buChar char="•"/>
            </a:pPr>
            <a:r>
              <a:rPr lang="en-US" sz="3200" dirty="0">
                <a:solidFill>
                  <a:schemeClr val="bg1">
                    <a:lumMod val="95000"/>
                  </a:schemeClr>
                </a:solidFill>
                <a:latin typeface="Times New Roman" panose="02020603050405020304" pitchFamily="18" charset="0"/>
                <a:cs typeface="Times New Roman" panose="02020603050405020304" pitchFamily="18" charset="0"/>
              </a:rPr>
              <a:t>3x Conv2D Layers: Extract features with increasing filter depth.</a:t>
            </a:r>
          </a:p>
          <a:p>
            <a:pPr marL="457200" indent="-457200">
              <a:buFont typeface="Arial" panose="020B0604020202020204" pitchFamily="34" charset="0"/>
              <a:buChar char="•"/>
            </a:pPr>
            <a:endParaRPr lang="en-US" sz="3200" dirty="0">
              <a:solidFill>
                <a:schemeClr val="bg1">
                  <a:lumMod val="9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solidFill>
                  <a:schemeClr val="bg1">
                    <a:lumMod val="95000"/>
                  </a:schemeClr>
                </a:solidFill>
                <a:latin typeface="Times New Roman" panose="02020603050405020304" pitchFamily="18" charset="0"/>
                <a:cs typeface="Times New Roman" panose="02020603050405020304" pitchFamily="18" charset="0"/>
              </a:rPr>
              <a:t>BatchNorm &amp; Dropout: Improve stability and reduce overfitting.</a:t>
            </a:r>
          </a:p>
          <a:p>
            <a:pPr marL="457200" indent="-457200">
              <a:buFont typeface="Arial" panose="020B0604020202020204" pitchFamily="34" charset="0"/>
              <a:buChar char="•"/>
            </a:pPr>
            <a:endParaRPr lang="en-US" sz="3200" dirty="0">
              <a:solidFill>
                <a:schemeClr val="bg1">
                  <a:lumMod val="9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solidFill>
                  <a:schemeClr val="bg1">
                    <a:lumMod val="95000"/>
                  </a:schemeClr>
                </a:solidFill>
                <a:latin typeface="Times New Roman" panose="02020603050405020304" pitchFamily="18" charset="0"/>
                <a:cs typeface="Times New Roman" panose="02020603050405020304" pitchFamily="18" charset="0"/>
              </a:rPr>
              <a:t>Dense (512) + L2: Fully connected layer with regularization.</a:t>
            </a:r>
          </a:p>
          <a:p>
            <a:pPr marL="457200" indent="-457200">
              <a:buFont typeface="Arial" panose="020B0604020202020204" pitchFamily="34" charset="0"/>
              <a:buChar char="•"/>
            </a:pPr>
            <a:endParaRPr lang="en-US" sz="3200" dirty="0">
              <a:solidFill>
                <a:schemeClr val="bg1">
                  <a:lumMod val="9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solidFill>
                  <a:schemeClr val="bg1">
                    <a:lumMod val="95000"/>
                  </a:schemeClr>
                </a:solidFill>
                <a:latin typeface="Times New Roman" panose="02020603050405020304" pitchFamily="18" charset="0"/>
                <a:cs typeface="Times New Roman" panose="02020603050405020304" pitchFamily="18" charset="0"/>
              </a:rPr>
              <a:t>SoftMax (62 classes): Outputs probabilities for 62 characters.</a:t>
            </a:r>
          </a:p>
          <a:p>
            <a:pPr marL="457200" indent="-457200">
              <a:buFont typeface="Arial" panose="020B0604020202020204" pitchFamily="34" charset="0"/>
              <a:buChar char="•"/>
            </a:pPr>
            <a:endParaRPr lang="en-US" sz="3200" dirty="0">
              <a:solidFill>
                <a:schemeClr val="bg1">
                  <a:lumMod val="95000"/>
                </a:schemeClr>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solidFill>
                  <a:schemeClr val="bg1">
                    <a:lumMod val="95000"/>
                  </a:schemeClr>
                </a:solidFill>
                <a:latin typeface="Times New Roman" panose="02020603050405020304" pitchFamily="18" charset="0"/>
                <a:cs typeface="Times New Roman" panose="02020603050405020304" pitchFamily="18" charset="0"/>
              </a:rPr>
              <a:t>Adam + LR Scheduler: Optimizes training with adaptive learning rate.</a:t>
            </a:r>
          </a:p>
        </p:txBody>
      </p:sp>
      <p:sp>
        <p:nvSpPr>
          <p:cNvPr id="9" name="TextBox 9"/>
          <p:cNvSpPr txBox="1"/>
          <p:nvPr/>
        </p:nvSpPr>
        <p:spPr>
          <a:xfrm>
            <a:off x="8567292" y="7190321"/>
            <a:ext cx="5133451" cy="1350879"/>
          </a:xfrm>
          <a:prstGeom prst="rect">
            <a:avLst/>
          </a:prstGeom>
        </p:spPr>
        <p:txBody>
          <a:bodyPr lIns="94991" tIns="94991" rIns="94991" bIns="94991" rtlCol="0" anchor="ctr"/>
          <a:lstStyle/>
          <a:p>
            <a:pPr algn="ctr">
              <a:lnSpc>
                <a:spcPts val="3360"/>
              </a:lnSpc>
            </a:pPr>
            <a:endParaRPr dirty="0">
              <a:latin typeface="Times New Roman" panose="02020603050405020304" pitchFamily="18" charset="0"/>
              <a:cs typeface="Times New Roman" panose="02020603050405020304" pitchFamily="18" charset="0"/>
            </a:endParaRPr>
          </a:p>
        </p:txBody>
      </p:sp>
      <p:sp>
        <p:nvSpPr>
          <p:cNvPr id="12" name="TextBox 4">
            <a:extLst>
              <a:ext uri="{FF2B5EF4-FFF2-40B4-BE49-F238E27FC236}">
                <a16:creationId xmlns:a16="http://schemas.microsoft.com/office/drawing/2014/main" id="{FBC1BBA3-13D9-2B63-9FE3-7323BFFC475F}"/>
              </a:ext>
            </a:extLst>
          </p:cNvPr>
          <p:cNvSpPr txBox="1"/>
          <p:nvPr/>
        </p:nvSpPr>
        <p:spPr>
          <a:xfrm>
            <a:off x="5709895" y="826666"/>
            <a:ext cx="6868209" cy="769441"/>
          </a:xfrm>
          <a:prstGeom prst="rect">
            <a:avLst/>
          </a:prstGeom>
        </p:spPr>
        <p:txBody>
          <a:bodyPr wrap="square" lIns="0" tIns="0" rIns="0" bIns="0" rtlCol="0" anchor="t">
            <a:spAutoFit/>
          </a:bodyPr>
          <a:lstStyle/>
          <a:p>
            <a:pPr>
              <a:lnSpc>
                <a:spcPts val="6000"/>
              </a:lnSpc>
              <a:spcBef>
                <a:spcPct val="0"/>
              </a:spcBef>
            </a:pPr>
            <a:r>
              <a:rPr lang="en-US" sz="6000" b="1" dirty="0">
                <a:solidFill>
                  <a:schemeClr val="accent4">
                    <a:lumMod val="60000"/>
                    <a:lumOff val="40000"/>
                  </a:schemeClr>
                </a:solidFill>
                <a:latin typeface="Times New Roman" panose="02020603050405020304" pitchFamily="18" charset="0"/>
                <a:ea typeface="Anantason UltraExpanded Bold"/>
                <a:cs typeface="Times New Roman" panose="02020603050405020304" pitchFamily="18" charset="0"/>
                <a:sym typeface="Anantason UltraExpanded Bold"/>
              </a:rPr>
              <a:t>Model Architecture</a:t>
            </a:r>
            <a:endParaRPr lang="en-IN" sz="6000" b="1" dirty="0">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a:extLst>
            <a:ext uri="{FF2B5EF4-FFF2-40B4-BE49-F238E27FC236}">
              <a16:creationId xmlns:a16="http://schemas.microsoft.com/office/drawing/2014/main" id="{02A3BE9F-7DE3-CD4F-37E8-85CB870FADB0}"/>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08F504A3-2945-8B44-C3BC-5CAE7F58CCCB}"/>
              </a:ext>
            </a:extLst>
          </p:cNvPr>
          <p:cNvSpPr/>
          <p:nvPr/>
        </p:nvSpPr>
        <p:spPr>
          <a:xfrm>
            <a:off x="-3048000" y="-4591463"/>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4" name="TextBox 4">
            <a:extLst>
              <a:ext uri="{FF2B5EF4-FFF2-40B4-BE49-F238E27FC236}">
                <a16:creationId xmlns:a16="http://schemas.microsoft.com/office/drawing/2014/main" id="{9B986F23-488A-2471-E402-8A70593D490F}"/>
              </a:ext>
            </a:extLst>
          </p:cNvPr>
          <p:cNvSpPr txBox="1"/>
          <p:nvPr/>
        </p:nvSpPr>
        <p:spPr>
          <a:xfrm>
            <a:off x="6431724" y="1004961"/>
            <a:ext cx="5424551" cy="769441"/>
          </a:xfrm>
          <a:prstGeom prst="rect">
            <a:avLst/>
          </a:prstGeom>
        </p:spPr>
        <p:txBody>
          <a:bodyPr wrap="square" lIns="0" tIns="0" rIns="0" bIns="0" rtlCol="0" anchor="t">
            <a:spAutoFit/>
          </a:bodyPr>
          <a:lstStyle/>
          <a:p>
            <a:pPr lvl="0">
              <a:lnSpc>
                <a:spcPts val="6000"/>
              </a:lnSpc>
              <a:spcBef>
                <a:spcPct val="0"/>
              </a:spcBef>
            </a:pPr>
            <a:r>
              <a:rPr lang="en-US" sz="5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ea typeface="Anantason UltraExpanded Bold"/>
                <a:cs typeface="Times New Roman" panose="02020603050405020304" pitchFamily="18" charset="0"/>
                <a:sym typeface="Anantason UltraExpanded Bold"/>
              </a:rPr>
              <a:t>Data Preprocessing</a:t>
            </a:r>
          </a:p>
        </p:txBody>
      </p:sp>
      <p:sp>
        <p:nvSpPr>
          <p:cNvPr id="19" name="TextBox 19">
            <a:extLst>
              <a:ext uri="{FF2B5EF4-FFF2-40B4-BE49-F238E27FC236}">
                <a16:creationId xmlns:a16="http://schemas.microsoft.com/office/drawing/2014/main" id="{FBF259FD-B75D-5DB1-D9BE-6124957549C4}"/>
              </a:ext>
            </a:extLst>
          </p:cNvPr>
          <p:cNvSpPr txBox="1"/>
          <p:nvPr/>
        </p:nvSpPr>
        <p:spPr>
          <a:xfrm>
            <a:off x="9429750" y="3419546"/>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23" name="TextBox 23">
            <a:extLst>
              <a:ext uri="{FF2B5EF4-FFF2-40B4-BE49-F238E27FC236}">
                <a16:creationId xmlns:a16="http://schemas.microsoft.com/office/drawing/2014/main" id="{763A32F7-E35F-0F0E-4FCF-DAF12D0EA7D8}"/>
              </a:ext>
            </a:extLst>
          </p:cNvPr>
          <p:cNvSpPr txBox="1"/>
          <p:nvPr/>
        </p:nvSpPr>
        <p:spPr>
          <a:xfrm>
            <a:off x="9429750" y="5467421"/>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31" name="TextBox 31">
            <a:extLst>
              <a:ext uri="{FF2B5EF4-FFF2-40B4-BE49-F238E27FC236}">
                <a16:creationId xmlns:a16="http://schemas.microsoft.com/office/drawing/2014/main" id="{A8A34857-D8D1-65FE-138D-E963EDCF878C}"/>
              </a:ext>
            </a:extLst>
          </p:cNvPr>
          <p:cNvSpPr txBox="1"/>
          <p:nvPr/>
        </p:nvSpPr>
        <p:spPr>
          <a:xfrm>
            <a:off x="1182347" y="5467421"/>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16" name="Rectangle 11">
            <a:extLst>
              <a:ext uri="{FF2B5EF4-FFF2-40B4-BE49-F238E27FC236}">
                <a16:creationId xmlns:a16="http://schemas.microsoft.com/office/drawing/2014/main" id="{0A0F7F8B-B593-0F98-3634-6918B5D4B541}"/>
              </a:ext>
            </a:extLst>
          </p:cNvPr>
          <p:cNvSpPr>
            <a:spLocks noChangeArrowheads="1"/>
          </p:cNvSpPr>
          <p:nvPr/>
        </p:nvSpPr>
        <p:spPr bwMode="auto">
          <a:xfrm>
            <a:off x="953123" y="2550261"/>
            <a:ext cx="16953253" cy="6401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bg1"/>
                </a:solidFill>
                <a:effectLst/>
                <a:latin typeface="Arial" panose="020B0604020202020204" pitchFamily="34" charset="0"/>
              </a:rPr>
              <a:t>Scale Pixel Values to Standard Range:</a:t>
            </a:r>
            <a:br>
              <a:rPr kumimoji="0" lang="en-US" altLang="en-US" sz="2800" b="0" i="0" u="none" strike="noStrike" cap="none" normalizeH="0" baseline="0" dirty="0">
                <a:ln>
                  <a:noFill/>
                </a:ln>
                <a:solidFill>
                  <a:schemeClr val="bg1"/>
                </a:solidFill>
                <a:effectLst/>
                <a:latin typeface="Arial" panose="020B0604020202020204" pitchFamily="34" charset="0"/>
              </a:rPr>
            </a:br>
            <a:r>
              <a:rPr kumimoji="0" lang="en-US" altLang="en-US" sz="2800" b="0" i="0" u="none" strike="noStrike" cap="none" normalizeH="0" baseline="0" dirty="0">
                <a:ln>
                  <a:noFill/>
                </a:ln>
                <a:solidFill>
                  <a:schemeClr val="bg1"/>
                </a:solidFill>
                <a:effectLst/>
                <a:latin typeface="Arial" panose="020B0604020202020204" pitchFamily="34" charset="0"/>
              </a:rPr>
              <a:t>Image pixels originally range from 0 to 255. Normalization scales them to a standard range like [0, 1] or [-1, 1], which makes the data easier for the model to process.</a:t>
            </a:r>
          </a:p>
          <a:p>
            <a:pPr marL="514350" marR="0" lvl="0" indent="-514350" algn="l" defTabSz="914400" rtl="0" eaLnBrk="0" fontAlgn="base" latinLnBrk="0" hangingPunct="0">
              <a:spcBef>
                <a:spcPct val="0"/>
              </a:spcBef>
              <a:spcAft>
                <a:spcPct val="0"/>
              </a:spcAft>
              <a:buClrTx/>
              <a:buSzTx/>
              <a:buFont typeface="+mj-lt"/>
              <a:buAutoNum type="arabicPeriod"/>
              <a:tabLst/>
            </a:pP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514350" marR="0" lvl="0" indent="-514350" algn="l" defTabSz="914400" rtl="0" eaLnBrk="0" fontAlgn="base" latinLnBrk="0" hangingPunct="0">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bg1"/>
                </a:solidFill>
                <a:effectLst/>
                <a:latin typeface="Arial" panose="020B0604020202020204" pitchFamily="34" charset="0"/>
              </a:rPr>
              <a:t>Improve Model Performance and Stability:</a:t>
            </a:r>
            <a:br>
              <a:rPr kumimoji="0" lang="en-US" altLang="en-US" sz="2800" b="0" i="0" u="none" strike="noStrike" cap="none" normalizeH="0" baseline="0" dirty="0">
                <a:ln>
                  <a:noFill/>
                </a:ln>
                <a:solidFill>
                  <a:schemeClr val="bg1"/>
                </a:solidFill>
                <a:effectLst/>
                <a:latin typeface="Arial" panose="020B0604020202020204" pitchFamily="34" charset="0"/>
              </a:rPr>
            </a:br>
            <a:r>
              <a:rPr kumimoji="0" lang="en-US" altLang="en-US" sz="2800" b="0" i="0" u="none" strike="noStrike" cap="none" normalizeH="0" baseline="0" dirty="0">
                <a:ln>
                  <a:noFill/>
                </a:ln>
                <a:solidFill>
                  <a:schemeClr val="bg1"/>
                </a:solidFill>
                <a:effectLst/>
                <a:latin typeface="Arial" panose="020B0604020202020204" pitchFamily="34" charset="0"/>
              </a:rPr>
              <a:t>Normalized inputs lead to faster convergence during training and help avoid issues like exploding or vanishing gradients.</a:t>
            </a:r>
          </a:p>
          <a:p>
            <a:pPr marL="514350" marR="0" lvl="0" indent="-514350" algn="l" defTabSz="914400" rtl="0" eaLnBrk="0" fontAlgn="base" latinLnBrk="0" hangingPunct="0">
              <a:spcBef>
                <a:spcPct val="0"/>
              </a:spcBef>
              <a:spcAft>
                <a:spcPct val="0"/>
              </a:spcAft>
              <a:buClrTx/>
              <a:buSzTx/>
              <a:buFont typeface="+mj-lt"/>
              <a:buAutoNum type="arabicPeriod"/>
              <a:tabLst/>
            </a:pP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514350" marR="0" lvl="0" indent="-514350" algn="l" defTabSz="914400" rtl="0" eaLnBrk="0" fontAlgn="base" latinLnBrk="0" hangingPunct="0">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bg1"/>
                </a:solidFill>
                <a:effectLst/>
                <a:latin typeface="Arial" panose="020B0604020202020204" pitchFamily="34" charset="0"/>
              </a:rPr>
              <a:t>Ensure Input Consistency Across Dataset:</a:t>
            </a:r>
            <a:br>
              <a:rPr kumimoji="0" lang="en-US" altLang="en-US" sz="2800" b="0" i="0" u="none" strike="noStrike" cap="none" normalizeH="0" baseline="0" dirty="0">
                <a:ln>
                  <a:noFill/>
                </a:ln>
                <a:solidFill>
                  <a:schemeClr val="bg1"/>
                </a:solidFill>
                <a:effectLst/>
                <a:latin typeface="Arial" panose="020B0604020202020204" pitchFamily="34" charset="0"/>
              </a:rPr>
            </a:br>
            <a:r>
              <a:rPr kumimoji="0" lang="en-US" altLang="en-US" sz="2800" b="0" i="0" u="none" strike="noStrike" cap="none" normalizeH="0" baseline="0" dirty="0">
                <a:ln>
                  <a:noFill/>
                </a:ln>
                <a:solidFill>
                  <a:schemeClr val="bg1"/>
                </a:solidFill>
                <a:effectLst/>
                <a:latin typeface="Arial" panose="020B0604020202020204" pitchFamily="34" charset="0"/>
              </a:rPr>
              <a:t>By bringing all input data to the same scale, normalization ensures that the model treats each image uniformly, regardless of lighting or contrast variations.</a:t>
            </a:r>
          </a:p>
          <a:p>
            <a:pPr marL="514350" marR="0" lvl="0" indent="-514350" algn="l" defTabSz="914400" rtl="0" eaLnBrk="0" fontAlgn="base" latinLnBrk="0" hangingPunct="0">
              <a:spcBef>
                <a:spcPct val="0"/>
              </a:spcBef>
              <a:spcAft>
                <a:spcPct val="0"/>
              </a:spcAft>
              <a:buClrTx/>
              <a:buSzTx/>
              <a:buFont typeface="+mj-lt"/>
              <a:buAutoNum type="arabicPeriod"/>
              <a:tabLst/>
            </a:pP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514350" marR="0" lvl="0" indent="-514350" algn="l" defTabSz="914400" rtl="0" eaLnBrk="0" fontAlgn="base" latinLnBrk="0" hangingPunct="0">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bg1"/>
                </a:solidFill>
                <a:effectLst/>
                <a:latin typeface="Arial" panose="020B0604020202020204" pitchFamily="34" charset="0"/>
              </a:rPr>
              <a:t>Apply Common Techniques:</a:t>
            </a:r>
            <a:br>
              <a:rPr kumimoji="0" lang="en-US" altLang="en-US" sz="2800" b="0" i="0" u="none" strike="noStrike" cap="none" normalizeH="0" baseline="0" dirty="0">
                <a:ln>
                  <a:noFill/>
                </a:ln>
                <a:solidFill>
                  <a:schemeClr val="bg1"/>
                </a:solidFill>
                <a:effectLst/>
                <a:latin typeface="Arial" panose="020B0604020202020204" pitchFamily="34" charset="0"/>
              </a:rPr>
            </a:br>
            <a:r>
              <a:rPr kumimoji="0" lang="en-US" altLang="en-US" sz="2800" b="0" i="0" u="none" strike="noStrike" cap="none" normalizeH="0" baseline="0" dirty="0">
                <a:ln>
                  <a:noFill/>
                </a:ln>
                <a:solidFill>
                  <a:schemeClr val="bg1"/>
                </a:solidFill>
                <a:effectLst/>
                <a:latin typeface="Arial" panose="020B0604020202020204" pitchFamily="34" charset="0"/>
              </a:rPr>
              <a:t>A typical approach is dividing pixel values by 255 to get [0, 1]. Alternatively, mean-std normalization (</a:t>
            </a:r>
            <a:r>
              <a:rPr kumimoji="0" lang="en-US" altLang="en-US" sz="1200" b="0" i="0" u="none" strike="noStrike" cap="none" normalizeH="0" baseline="0" dirty="0">
                <a:ln>
                  <a:noFill/>
                </a:ln>
                <a:solidFill>
                  <a:schemeClr val="bg1"/>
                </a:solidFill>
                <a:effectLst/>
                <a:latin typeface="Arial Unicode MS"/>
              </a:rPr>
              <a:t>(x - mean) / std</a:t>
            </a:r>
            <a:r>
              <a:rPr kumimoji="0" lang="en-US" altLang="en-US" b="0" i="0" u="none" strike="noStrike" cap="none" normalizeH="0" baseline="0" dirty="0">
                <a:ln>
                  <a:noFill/>
                </a:ln>
                <a:solidFill>
                  <a:schemeClr val="bg1"/>
                </a:solidFill>
                <a:effectLst/>
              </a:rPr>
              <a:t>) can center data around 0 with unit variance.</a:t>
            </a: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644805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a:extLst>
            <a:ext uri="{FF2B5EF4-FFF2-40B4-BE49-F238E27FC236}">
              <a16:creationId xmlns:a16="http://schemas.microsoft.com/office/drawing/2014/main" id="{C7F4D2B5-8A62-7D53-1F29-5AB86FAE6C2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518D8B2-06FD-AE24-045B-B7188C67A2A9}"/>
              </a:ext>
            </a:extLst>
          </p:cNvPr>
          <p:cNvSpPr/>
          <p:nvPr/>
        </p:nvSpPr>
        <p:spPr>
          <a:xfrm>
            <a:off x="-2433502" y="-1395764"/>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4" name="TextBox 4">
            <a:extLst>
              <a:ext uri="{FF2B5EF4-FFF2-40B4-BE49-F238E27FC236}">
                <a16:creationId xmlns:a16="http://schemas.microsoft.com/office/drawing/2014/main" id="{8DFE9EBF-6BA2-BCA6-AA2C-5949B97094FE}"/>
              </a:ext>
            </a:extLst>
          </p:cNvPr>
          <p:cNvSpPr txBox="1"/>
          <p:nvPr/>
        </p:nvSpPr>
        <p:spPr>
          <a:xfrm>
            <a:off x="7349711" y="1003412"/>
            <a:ext cx="4613690" cy="769441"/>
          </a:xfrm>
          <a:prstGeom prst="rect">
            <a:avLst/>
          </a:prstGeom>
        </p:spPr>
        <p:txBody>
          <a:bodyPr wrap="square" lIns="0" tIns="0" rIns="0" bIns="0" rtlCol="0" anchor="t">
            <a:spAutoFit/>
          </a:bodyPr>
          <a:lstStyle/>
          <a:p>
            <a:pPr lvl="0">
              <a:lnSpc>
                <a:spcPts val="6000"/>
              </a:lnSpc>
              <a:spcBef>
                <a:spcPct val="0"/>
              </a:spcBef>
            </a:pPr>
            <a:r>
              <a:rPr lang="en-IN"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Training</a:t>
            </a:r>
            <a:r>
              <a:rPr lang="en-IN"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 Setup</a:t>
            </a:r>
            <a:endParaRPr lang="en-US" sz="5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ea typeface="Anantason UltraExpanded Bold"/>
              <a:cs typeface="Times New Roman" panose="02020603050405020304" pitchFamily="18" charset="0"/>
              <a:sym typeface="Anantason UltraExpanded Bold"/>
            </a:endParaRPr>
          </a:p>
        </p:txBody>
      </p:sp>
      <p:sp>
        <p:nvSpPr>
          <p:cNvPr id="19" name="TextBox 19">
            <a:extLst>
              <a:ext uri="{FF2B5EF4-FFF2-40B4-BE49-F238E27FC236}">
                <a16:creationId xmlns:a16="http://schemas.microsoft.com/office/drawing/2014/main" id="{4FD374C9-2FB0-8EC0-0B87-4E5E23251616}"/>
              </a:ext>
            </a:extLst>
          </p:cNvPr>
          <p:cNvSpPr txBox="1"/>
          <p:nvPr/>
        </p:nvSpPr>
        <p:spPr>
          <a:xfrm>
            <a:off x="9429750" y="3419546"/>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23" name="TextBox 23">
            <a:extLst>
              <a:ext uri="{FF2B5EF4-FFF2-40B4-BE49-F238E27FC236}">
                <a16:creationId xmlns:a16="http://schemas.microsoft.com/office/drawing/2014/main" id="{2EEA85D7-27CD-4D8C-F5B1-F5B6C2EDF1CB}"/>
              </a:ext>
            </a:extLst>
          </p:cNvPr>
          <p:cNvSpPr txBox="1"/>
          <p:nvPr/>
        </p:nvSpPr>
        <p:spPr>
          <a:xfrm>
            <a:off x="9429750" y="5467421"/>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31" name="TextBox 31">
            <a:extLst>
              <a:ext uri="{FF2B5EF4-FFF2-40B4-BE49-F238E27FC236}">
                <a16:creationId xmlns:a16="http://schemas.microsoft.com/office/drawing/2014/main" id="{29A36BAC-F0F9-4ECF-D9D6-FAD00D8EA5AD}"/>
              </a:ext>
            </a:extLst>
          </p:cNvPr>
          <p:cNvSpPr txBox="1"/>
          <p:nvPr/>
        </p:nvSpPr>
        <p:spPr>
          <a:xfrm>
            <a:off x="1182347" y="5467421"/>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6" name="Rectangle 2">
            <a:extLst>
              <a:ext uri="{FF2B5EF4-FFF2-40B4-BE49-F238E27FC236}">
                <a16:creationId xmlns:a16="http://schemas.microsoft.com/office/drawing/2014/main" id="{70A8A422-7720-574C-7F75-A16626F965A8}"/>
              </a:ext>
            </a:extLst>
          </p:cNvPr>
          <p:cNvSpPr>
            <a:spLocks noChangeArrowheads="1"/>
          </p:cNvSpPr>
          <p:nvPr/>
        </p:nvSpPr>
        <p:spPr bwMode="auto">
          <a:xfrm>
            <a:off x="1524000" y="2753501"/>
            <a:ext cx="152400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Epochs: 30</a:t>
            </a:r>
            <a:b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model will train over the entire dataset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30 times</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allowing it to learn patterns and improve accuracy gradually.</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Batch Size: 128</a:t>
            </a:r>
            <a:b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training data is divided into batches of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128 samples</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balancing memory usage and convergence speed.</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Loss Function – Sparse Categorical Cross entropy:</a:t>
            </a:r>
            <a:b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Used for multi-class classification with integer labels; ideal for recognizing digits or characters from image data.</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Callbacks for Optimized Training:</a:t>
            </a: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Early Stopping:</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Stops training early if validation performance stops improving to prevent overfitting.</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Reduce LROn Plateau:</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Reduces learning rate if validation loss stalls, helping the model fine-tune better.</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Mode checkpoint:</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Saves the best model during training based on validation accuracy or loss.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577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Freeform 2"/>
          <p:cNvSpPr/>
          <p:nvPr/>
        </p:nvSpPr>
        <p:spPr>
          <a:xfrm>
            <a:off x="13214573" y="-2766980"/>
            <a:ext cx="6931681" cy="6186525"/>
          </a:xfrm>
          <a:custGeom>
            <a:avLst/>
            <a:gdLst/>
            <a:ahLst/>
            <a:cxnLst/>
            <a:rect l="l" t="t" r="r" b="b"/>
            <a:pathLst>
              <a:path w="6931681" h="6186525">
                <a:moveTo>
                  <a:pt x="0" y="0"/>
                </a:moveTo>
                <a:lnTo>
                  <a:pt x="6931681" y="0"/>
                </a:lnTo>
                <a:lnTo>
                  <a:pt x="6931681" y="6186526"/>
                </a:lnTo>
                <a:lnTo>
                  <a:pt x="0" y="61865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667000" y="-7196006"/>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4"/>
            <a:stretch>
              <a:fillRect/>
            </a:stretch>
          </a:blipFill>
        </p:spPr>
      </p:sp>
      <p:sp>
        <p:nvSpPr>
          <p:cNvPr id="4" name="TextBox 4"/>
          <p:cNvSpPr txBox="1"/>
          <p:nvPr/>
        </p:nvSpPr>
        <p:spPr>
          <a:xfrm>
            <a:off x="6081649" y="1076267"/>
            <a:ext cx="6115050" cy="769441"/>
          </a:xfrm>
          <a:prstGeom prst="rect">
            <a:avLst/>
          </a:prstGeom>
        </p:spPr>
        <p:txBody>
          <a:bodyPr wrap="square" lIns="0" tIns="0" rIns="0" bIns="0" rtlCol="0" anchor="t">
            <a:spAutoFit/>
          </a:bodyPr>
          <a:lstStyle/>
          <a:p>
            <a:pPr lvl="0">
              <a:lnSpc>
                <a:spcPts val="6000"/>
              </a:lnSpc>
              <a:spcBef>
                <a:spcPct val="0"/>
              </a:spcBef>
            </a:pPr>
            <a:r>
              <a:rPr lang="en-US" sz="5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ea typeface="Anantason UltraExpanded Bold"/>
                <a:cs typeface="Times New Roman" panose="02020603050405020304" pitchFamily="18" charset="0"/>
                <a:sym typeface="Anantason UltraExpanded Bold"/>
              </a:rPr>
              <a:t>Results and Accuracy</a:t>
            </a:r>
          </a:p>
        </p:txBody>
      </p:sp>
      <p:sp>
        <p:nvSpPr>
          <p:cNvPr id="5" name="TextBox 5"/>
          <p:cNvSpPr txBox="1"/>
          <p:nvPr/>
        </p:nvSpPr>
        <p:spPr>
          <a:xfrm>
            <a:off x="3051063" y="3419545"/>
            <a:ext cx="13179537" cy="5256567"/>
          </a:xfrm>
          <a:prstGeom prst="rect">
            <a:avLst/>
          </a:prstGeom>
        </p:spPr>
        <p:txBody>
          <a:bodyPr wrap="square" lIns="0" tIns="0" rIns="0" bIns="0" rtlCol="0" anchor="t">
            <a:spAutoFit/>
          </a:bodyPr>
          <a:lstStyle/>
          <a:p>
            <a:pPr>
              <a:lnSpc>
                <a:spcPct val="150000"/>
              </a:lnSpc>
              <a:spcBef>
                <a:spcPct val="0"/>
              </a:spcBef>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 CNN Model Accuracy 90%</a:t>
            </a:r>
          </a:p>
          <a:p>
            <a:pPr>
              <a:lnSpc>
                <a:spcPct val="150000"/>
              </a:lnSpc>
              <a:spcBef>
                <a:spcPct val="0"/>
              </a:spcBef>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 Training accuracy 89.30%</a:t>
            </a:r>
          </a:p>
          <a:p>
            <a:pPr>
              <a:lnSpc>
                <a:spcPct val="150000"/>
              </a:lnSpc>
              <a:spcBef>
                <a:spcPct val="0"/>
              </a:spcBef>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 Test accuracy 89.30% on Emnist ByClass dataset</a:t>
            </a:r>
          </a:p>
          <a:p>
            <a:pPr>
              <a:lnSpc>
                <a:spcPts val="2640"/>
              </a:lnSpc>
              <a:spcBef>
                <a:spcPct val="0"/>
              </a:spcBef>
            </a:pPr>
            <a:endParaRPr lang="en-US" sz="3200" dirty="0">
              <a:solidFill>
                <a:srgbClr val="FFFFFF"/>
              </a:solidFill>
              <a:latin typeface="Times New Roman" panose="02020603050405020304" pitchFamily="18" charset="0"/>
              <a:ea typeface="Codec Pro"/>
              <a:cs typeface="Times New Roman" panose="02020603050405020304" pitchFamily="18" charset="0"/>
              <a:sym typeface="Codec Pro"/>
            </a:endParaRPr>
          </a:p>
          <a:p>
            <a:pPr>
              <a:spcBef>
                <a:spcPct val="0"/>
              </a:spcBef>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 Smooth Learning Curve: Confusion Matrix: Minor confusions in look-alike characters</a:t>
            </a:r>
          </a:p>
          <a:p>
            <a:pPr>
              <a:lnSpc>
                <a:spcPts val="2640"/>
              </a:lnSpc>
              <a:spcBef>
                <a:spcPct val="0"/>
              </a:spcBef>
            </a:pPr>
            <a:endParaRPr lang="en-US" sz="3200" dirty="0">
              <a:solidFill>
                <a:srgbClr val="FFFFFF"/>
              </a:solidFill>
              <a:latin typeface="Times New Roman" panose="02020603050405020304" pitchFamily="18" charset="0"/>
              <a:ea typeface="Codec Pro"/>
              <a:cs typeface="Times New Roman" panose="02020603050405020304" pitchFamily="18" charset="0"/>
              <a:sym typeface="Codec Pro"/>
            </a:endParaRPr>
          </a:p>
          <a:p>
            <a:pPr>
              <a:lnSpc>
                <a:spcPct val="150000"/>
              </a:lnSpc>
              <a:spcBef>
                <a:spcPct val="0"/>
              </a:spcBef>
            </a:pPr>
            <a:r>
              <a:rPr lang="en-US" sz="3200" dirty="0">
                <a:solidFill>
                  <a:srgbClr val="FFFFFF"/>
                </a:solidFill>
                <a:latin typeface="Times New Roman" panose="02020603050405020304" pitchFamily="18" charset="0"/>
                <a:ea typeface="Codec Pro"/>
                <a:cs typeface="Times New Roman" panose="02020603050405020304" pitchFamily="18" charset="0"/>
                <a:sym typeface="Codec Pro"/>
              </a:rPr>
              <a:t>🔍 Confusion Matrix: High precision across most characters, slight confusion in similar  shapes (e.g., ‘O’ vs ‘0’, ‘l’ vs ‘1’)</a:t>
            </a:r>
          </a:p>
        </p:txBody>
      </p:sp>
      <p:sp>
        <p:nvSpPr>
          <p:cNvPr id="19" name="TextBox 19"/>
          <p:cNvSpPr txBox="1"/>
          <p:nvPr/>
        </p:nvSpPr>
        <p:spPr>
          <a:xfrm>
            <a:off x="9429750" y="3419546"/>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23" name="TextBox 23"/>
          <p:cNvSpPr txBox="1"/>
          <p:nvPr/>
        </p:nvSpPr>
        <p:spPr>
          <a:xfrm>
            <a:off x="9429750" y="5467421"/>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31" name="TextBox 31"/>
          <p:cNvSpPr txBox="1"/>
          <p:nvPr/>
        </p:nvSpPr>
        <p:spPr>
          <a:xfrm>
            <a:off x="1182347" y="5467421"/>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a:extLst>
            <a:ext uri="{FF2B5EF4-FFF2-40B4-BE49-F238E27FC236}">
              <a16:creationId xmlns:a16="http://schemas.microsoft.com/office/drawing/2014/main" id="{42FED6A5-82A9-8E54-13C7-C0FC7FCABB4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65FD8D2D-70F6-59B2-2F49-2939DB879E59}"/>
              </a:ext>
            </a:extLst>
          </p:cNvPr>
          <p:cNvSpPr/>
          <p:nvPr/>
        </p:nvSpPr>
        <p:spPr>
          <a:xfrm>
            <a:off x="-2743200" y="-1638300"/>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4" name="TextBox 4">
            <a:extLst>
              <a:ext uri="{FF2B5EF4-FFF2-40B4-BE49-F238E27FC236}">
                <a16:creationId xmlns:a16="http://schemas.microsoft.com/office/drawing/2014/main" id="{250FD91E-3C80-646A-85CE-1460515A71F5}"/>
              </a:ext>
            </a:extLst>
          </p:cNvPr>
          <p:cNvSpPr txBox="1"/>
          <p:nvPr/>
        </p:nvSpPr>
        <p:spPr>
          <a:xfrm>
            <a:off x="5473161" y="1006939"/>
            <a:ext cx="7421281" cy="769441"/>
          </a:xfrm>
          <a:prstGeom prst="rect">
            <a:avLst/>
          </a:prstGeom>
        </p:spPr>
        <p:txBody>
          <a:bodyPr wrap="square" lIns="0" tIns="0" rIns="0" bIns="0" rtlCol="0" anchor="t">
            <a:spAutoFit/>
          </a:bodyPr>
          <a:lstStyle/>
          <a:p>
            <a:pPr lvl="0">
              <a:lnSpc>
                <a:spcPts val="6000"/>
              </a:lnSpc>
              <a:spcBef>
                <a:spcPct val="0"/>
              </a:spcBef>
            </a:pPr>
            <a:r>
              <a:rPr lang="en-IN" sz="54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GUI and Real-time Input</a:t>
            </a:r>
            <a:endParaRPr lang="en-US" sz="5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ea typeface="Anantason UltraExpanded Bold"/>
              <a:cs typeface="Times New Roman" panose="02020603050405020304" pitchFamily="18" charset="0"/>
              <a:sym typeface="Anantason UltraExpanded Bold"/>
            </a:endParaRPr>
          </a:p>
        </p:txBody>
      </p:sp>
      <p:sp>
        <p:nvSpPr>
          <p:cNvPr id="19" name="TextBox 19">
            <a:extLst>
              <a:ext uri="{FF2B5EF4-FFF2-40B4-BE49-F238E27FC236}">
                <a16:creationId xmlns:a16="http://schemas.microsoft.com/office/drawing/2014/main" id="{18B8DBF3-B48B-93CF-817E-460F66784F57}"/>
              </a:ext>
            </a:extLst>
          </p:cNvPr>
          <p:cNvSpPr txBox="1"/>
          <p:nvPr/>
        </p:nvSpPr>
        <p:spPr>
          <a:xfrm>
            <a:off x="9429750" y="3419546"/>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23" name="TextBox 23">
            <a:extLst>
              <a:ext uri="{FF2B5EF4-FFF2-40B4-BE49-F238E27FC236}">
                <a16:creationId xmlns:a16="http://schemas.microsoft.com/office/drawing/2014/main" id="{901BB0F9-FFB0-16B7-4520-8B34E28638A8}"/>
              </a:ext>
            </a:extLst>
          </p:cNvPr>
          <p:cNvSpPr txBox="1"/>
          <p:nvPr/>
        </p:nvSpPr>
        <p:spPr>
          <a:xfrm>
            <a:off x="9429750" y="5467421"/>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31" name="TextBox 31">
            <a:extLst>
              <a:ext uri="{FF2B5EF4-FFF2-40B4-BE49-F238E27FC236}">
                <a16:creationId xmlns:a16="http://schemas.microsoft.com/office/drawing/2014/main" id="{02115858-5D83-83B5-5192-5D7519588FFD}"/>
              </a:ext>
            </a:extLst>
          </p:cNvPr>
          <p:cNvSpPr txBox="1"/>
          <p:nvPr/>
        </p:nvSpPr>
        <p:spPr>
          <a:xfrm>
            <a:off x="1182347" y="5467421"/>
            <a:ext cx="1749075" cy="2072299"/>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Times New Roman" panose="02020603050405020304" pitchFamily="18" charset="0"/>
              <a:ea typeface="Anantason UltraExpanded Thin"/>
              <a:cs typeface="Times New Roman" panose="02020603050405020304" pitchFamily="18" charset="0"/>
              <a:sym typeface="Anantason UltraExpanded Thin"/>
            </a:endParaRPr>
          </a:p>
        </p:txBody>
      </p:sp>
      <p:sp>
        <p:nvSpPr>
          <p:cNvPr id="5" name="Rectangle 2">
            <a:extLst>
              <a:ext uri="{FF2B5EF4-FFF2-40B4-BE49-F238E27FC236}">
                <a16:creationId xmlns:a16="http://schemas.microsoft.com/office/drawing/2014/main" id="{BCD83B30-BB84-E26C-96A2-9C1E6017846E}"/>
              </a:ext>
            </a:extLst>
          </p:cNvPr>
          <p:cNvSpPr>
            <a:spLocks noChangeArrowheads="1"/>
          </p:cNvSpPr>
          <p:nvPr/>
        </p:nvSpPr>
        <p:spPr bwMode="auto">
          <a:xfrm>
            <a:off x="1422600" y="3247188"/>
            <a:ext cx="1601429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Canvas Mode – Draw and Predict:</a:t>
            </a:r>
            <a:b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Users can draw characters directly on a canvas using the mouse or touch input. The model predicts the character in real time based on the drawing.</a:t>
            </a:r>
          </a:p>
          <a:p>
            <a:pPr marL="342900" marR="0" lvl="0" indent="-342900" algn="l" defTabSz="914400" rtl="0" eaLnBrk="0" fontAlgn="base" latinLnBrk="0" hangingPunct="0">
              <a:spcBef>
                <a:spcPct val="0"/>
              </a:spcBef>
              <a:spcAft>
                <a:spcPct val="0"/>
              </a:spcAft>
              <a:buClrTx/>
              <a:buSzTx/>
              <a:buFont typeface="+mj-lt"/>
              <a:buAutoNum type="arabicPeriod"/>
              <a:tabLst/>
            </a:pPr>
            <a:endPar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Camera Mode – Live Recognition via Webcam:</a:t>
            </a:r>
            <a:b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Allows real-time character recognition using a webcam feed. The system captures frames, processes them, and displays predictions instantly.</a:t>
            </a:r>
          </a:p>
          <a:p>
            <a:pPr marL="342900" marR="0" lvl="0" indent="-342900" algn="l" defTabSz="914400" rtl="0" eaLnBrk="0" fontAlgn="base" latinLnBrk="0" hangingPunct="0">
              <a:spcBef>
                <a:spcPct val="0"/>
              </a:spcBef>
              <a:spcAft>
                <a:spcPct val="0"/>
              </a:spcAft>
              <a:buClrTx/>
              <a:buSzTx/>
              <a:buFont typeface="+mj-lt"/>
              <a:buAutoNum type="arabicPeriod"/>
              <a:tabLst/>
            </a:pPr>
            <a:endPar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Mode Switching – GUI Button or Spacebar:</a:t>
            </a:r>
            <a:b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Users can easily toggle between </a:t>
            </a:r>
            <a:r>
              <a:rPr kumimoji="0" lang="en-US" altLang="en-US" sz="2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Canvas</a:t>
            </a: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and </a:t>
            </a:r>
            <a:r>
              <a:rPr kumimoji="0" lang="en-US" altLang="en-US" sz="2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Camera</a:t>
            </a: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modes either by clicking a GUI button or pressing the </a:t>
            </a:r>
            <a:r>
              <a:rPr kumimoji="0" lang="en-US" altLang="en-US" sz="2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Spacebar</a:t>
            </a: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key for quick access.</a:t>
            </a:r>
          </a:p>
        </p:txBody>
      </p:sp>
    </p:spTree>
    <p:extLst>
      <p:ext uri="{BB962C8B-B14F-4D97-AF65-F5344CB8AC3E}">
        <p14:creationId xmlns:p14="http://schemas.microsoft.com/office/powerpoint/2010/main" val="2515536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Freeform 3">
            <a:extLst>
              <a:ext uri="{FF2B5EF4-FFF2-40B4-BE49-F238E27FC236}">
                <a16:creationId xmlns:a16="http://schemas.microsoft.com/office/drawing/2014/main" id="{AA024F4A-F5A2-6DC8-2995-E2D636F026C7}"/>
              </a:ext>
            </a:extLst>
          </p:cNvPr>
          <p:cNvSpPr/>
          <p:nvPr/>
        </p:nvSpPr>
        <p:spPr>
          <a:xfrm>
            <a:off x="-3504141" y="-1714500"/>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3" name="Freeform 3"/>
          <p:cNvSpPr/>
          <p:nvPr/>
        </p:nvSpPr>
        <p:spPr>
          <a:xfrm>
            <a:off x="1923995" y="7402539"/>
            <a:ext cx="13521434" cy="3711521"/>
          </a:xfrm>
          <a:custGeom>
            <a:avLst/>
            <a:gdLst/>
            <a:ahLst/>
            <a:cxnLst/>
            <a:rect l="l" t="t" r="r" b="b"/>
            <a:pathLst>
              <a:path w="13521434" h="3711521">
                <a:moveTo>
                  <a:pt x="0" y="0"/>
                </a:moveTo>
                <a:lnTo>
                  <a:pt x="13521434" y="0"/>
                </a:lnTo>
                <a:lnTo>
                  <a:pt x="13521434" y="3711522"/>
                </a:lnTo>
                <a:lnTo>
                  <a:pt x="0" y="37115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TextBox 4">
            <a:extLst>
              <a:ext uri="{FF2B5EF4-FFF2-40B4-BE49-F238E27FC236}">
                <a16:creationId xmlns:a16="http://schemas.microsoft.com/office/drawing/2014/main" id="{DD633B98-A43C-CB38-F85A-790CE44C13DF}"/>
              </a:ext>
            </a:extLst>
          </p:cNvPr>
          <p:cNvSpPr txBox="1"/>
          <p:nvPr/>
        </p:nvSpPr>
        <p:spPr>
          <a:xfrm>
            <a:off x="6894012" y="1257300"/>
            <a:ext cx="3581400" cy="769441"/>
          </a:xfrm>
          <a:prstGeom prst="rect">
            <a:avLst/>
          </a:prstGeom>
        </p:spPr>
        <p:txBody>
          <a:bodyPr wrap="square" lIns="0" tIns="0" rIns="0" bIns="0" rtlCol="0" anchor="t">
            <a:spAutoFit/>
          </a:bodyPr>
          <a:lstStyle/>
          <a:p>
            <a:pPr lvl="0">
              <a:lnSpc>
                <a:spcPts val="6000"/>
              </a:lnSpc>
              <a:spcBef>
                <a:spcPct val="0"/>
              </a:spcBef>
            </a:pPr>
            <a:r>
              <a:rPr lang="en-US" sz="5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ea typeface="Anantason UltraExpanded Bold"/>
                <a:cs typeface="Times New Roman" panose="02020603050405020304" pitchFamily="18" charset="0"/>
                <a:sym typeface="Anantason UltraExpanded Bold"/>
              </a:rPr>
              <a:t>Applications</a:t>
            </a:r>
          </a:p>
        </p:txBody>
      </p:sp>
      <p:sp>
        <p:nvSpPr>
          <p:cNvPr id="20" name="Flowchart: Delay 19">
            <a:extLst>
              <a:ext uri="{FF2B5EF4-FFF2-40B4-BE49-F238E27FC236}">
                <a16:creationId xmlns:a16="http://schemas.microsoft.com/office/drawing/2014/main" id="{F1ED3819-266B-2A24-25FF-7C1ECC6F7232}"/>
              </a:ext>
            </a:extLst>
          </p:cNvPr>
          <p:cNvSpPr/>
          <p:nvPr/>
        </p:nvSpPr>
        <p:spPr>
          <a:xfrm>
            <a:off x="685800" y="4167994"/>
            <a:ext cx="2362200" cy="2423305"/>
          </a:xfrm>
          <a:prstGeom prst="flowChartDelay">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2000" b="1" dirty="0">
                <a:solidFill>
                  <a:schemeClr val="tx1"/>
                </a:solidFill>
                <a:latin typeface="Times New Roman" panose="02020603050405020304" pitchFamily="18" charset="0"/>
                <a:cs typeface="Times New Roman" panose="02020603050405020304" pitchFamily="18" charset="0"/>
              </a:rPr>
              <a:t>Banking &amp; Finance: </a:t>
            </a:r>
            <a:r>
              <a:rPr lang="en-US" sz="2000" dirty="0">
                <a:solidFill>
                  <a:schemeClr val="tx1"/>
                </a:solidFill>
                <a:latin typeface="Times New Roman" panose="02020603050405020304" pitchFamily="18" charset="0"/>
                <a:cs typeface="Times New Roman" panose="02020603050405020304" pitchFamily="18" charset="0"/>
              </a:rPr>
              <a:t>Automatic cheque processing and form digitization</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1" name="Flowchart: Delay 20">
            <a:extLst>
              <a:ext uri="{FF2B5EF4-FFF2-40B4-BE49-F238E27FC236}">
                <a16:creationId xmlns:a16="http://schemas.microsoft.com/office/drawing/2014/main" id="{1AC5D256-3365-BB81-9E3F-5C4A7245F30C}"/>
              </a:ext>
            </a:extLst>
          </p:cNvPr>
          <p:cNvSpPr/>
          <p:nvPr/>
        </p:nvSpPr>
        <p:spPr>
          <a:xfrm>
            <a:off x="3498435" y="4167207"/>
            <a:ext cx="2350800" cy="2422800"/>
          </a:xfrm>
          <a:prstGeom prst="flowChartDelay">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200" b="1" dirty="0">
                <a:latin typeface="Times New Roman" panose="02020603050405020304" pitchFamily="18" charset="0"/>
                <a:cs typeface="Times New Roman" panose="02020603050405020304" pitchFamily="18" charset="0"/>
              </a:rPr>
              <a:t>Postal Services: </a:t>
            </a:r>
          </a:p>
          <a:p>
            <a:r>
              <a:rPr lang="en-US" sz="2200" dirty="0">
                <a:latin typeface="Times New Roman" panose="02020603050405020304" pitchFamily="18" charset="0"/>
                <a:cs typeface="Times New Roman" panose="02020603050405020304" pitchFamily="18" charset="0"/>
              </a:rPr>
              <a:t>ZIP code and address recognition</a:t>
            </a:r>
          </a:p>
          <a:p>
            <a:endParaRPr lang="en-US" sz="2200" dirty="0">
              <a:latin typeface="Times New Roman" panose="02020603050405020304" pitchFamily="18" charset="0"/>
              <a:cs typeface="Times New Roman" panose="02020603050405020304" pitchFamily="18" charset="0"/>
            </a:endParaRPr>
          </a:p>
        </p:txBody>
      </p:sp>
      <p:sp>
        <p:nvSpPr>
          <p:cNvPr id="22" name="Flowchart: Delay 21">
            <a:extLst>
              <a:ext uri="{FF2B5EF4-FFF2-40B4-BE49-F238E27FC236}">
                <a16:creationId xmlns:a16="http://schemas.microsoft.com/office/drawing/2014/main" id="{1CA4A077-5311-5397-AF98-E3C4D2D43C94}"/>
              </a:ext>
            </a:extLst>
          </p:cNvPr>
          <p:cNvSpPr/>
          <p:nvPr/>
        </p:nvSpPr>
        <p:spPr>
          <a:xfrm>
            <a:off x="6311070" y="4056594"/>
            <a:ext cx="2361600" cy="2422800"/>
          </a:xfrm>
          <a:prstGeom prst="flowChartDelay">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2200" b="1" dirty="0">
                <a:latin typeface="Times New Roman" panose="02020603050405020304" pitchFamily="18" charset="0"/>
                <a:cs typeface="Times New Roman" panose="02020603050405020304" pitchFamily="18" charset="0"/>
              </a:rPr>
              <a:t>Education: </a:t>
            </a:r>
            <a:r>
              <a:rPr lang="en-US" sz="2200" dirty="0">
                <a:latin typeface="Times New Roman" panose="02020603050405020304" pitchFamily="18" charset="0"/>
                <a:cs typeface="Times New Roman" panose="02020603050405020304" pitchFamily="18" charset="0"/>
              </a:rPr>
              <a:t>Automated grading of handwritten answer sheets</a:t>
            </a:r>
          </a:p>
        </p:txBody>
      </p:sp>
      <p:sp>
        <p:nvSpPr>
          <p:cNvPr id="23" name="Flowchart: Delay 22">
            <a:extLst>
              <a:ext uri="{FF2B5EF4-FFF2-40B4-BE49-F238E27FC236}">
                <a16:creationId xmlns:a16="http://schemas.microsoft.com/office/drawing/2014/main" id="{811EE71F-EB2E-43EE-F662-ED428E9D8073}"/>
              </a:ext>
            </a:extLst>
          </p:cNvPr>
          <p:cNvSpPr/>
          <p:nvPr/>
        </p:nvSpPr>
        <p:spPr>
          <a:xfrm>
            <a:off x="11932970" y="4130336"/>
            <a:ext cx="2350800" cy="2422800"/>
          </a:xfrm>
          <a:prstGeom prst="flowChartDelay">
            <a:avLst/>
          </a:prstGeom>
        </p:spPr>
        <p:style>
          <a:lnRef idx="1">
            <a:schemeClr val="dk1"/>
          </a:lnRef>
          <a:fillRef idx="2">
            <a:schemeClr val="dk1"/>
          </a:fillRef>
          <a:effectRef idx="1">
            <a:schemeClr val="dk1"/>
          </a:effectRef>
          <a:fontRef idx="minor">
            <a:schemeClr val="dk1"/>
          </a:fontRef>
        </p:style>
        <p:txBody>
          <a:bodyPr rtlCol="0" anchor="ctr"/>
          <a:lstStyle/>
          <a:p>
            <a:r>
              <a:rPr lang="en-US" sz="2000" b="1" dirty="0">
                <a:latin typeface="Times New Roman" panose="02020603050405020304" pitchFamily="18" charset="0"/>
                <a:cs typeface="Times New Roman" panose="02020603050405020304" pitchFamily="18" charset="0"/>
              </a:rPr>
              <a:t>CAPTCHA Solving: </a:t>
            </a:r>
            <a:r>
              <a:rPr lang="en-US" sz="2000" dirty="0">
                <a:latin typeface="Times New Roman" panose="02020603050405020304" pitchFamily="18" charset="0"/>
                <a:cs typeface="Times New Roman" panose="02020603050405020304" pitchFamily="18" charset="0"/>
              </a:rPr>
              <a:t>Recognizing distorted handwritten characters</a:t>
            </a:r>
            <a:endParaRPr lang="en-IN" sz="2000" dirty="0">
              <a:latin typeface="Times New Roman" panose="02020603050405020304" pitchFamily="18" charset="0"/>
              <a:cs typeface="Times New Roman" panose="02020603050405020304" pitchFamily="18" charset="0"/>
            </a:endParaRPr>
          </a:p>
        </p:txBody>
      </p:sp>
      <p:sp>
        <p:nvSpPr>
          <p:cNvPr id="24" name="Flowchart: Delay 23">
            <a:extLst>
              <a:ext uri="{FF2B5EF4-FFF2-40B4-BE49-F238E27FC236}">
                <a16:creationId xmlns:a16="http://schemas.microsoft.com/office/drawing/2014/main" id="{C8E355A7-20C4-36FB-1899-D60E0236E181}"/>
              </a:ext>
            </a:extLst>
          </p:cNvPr>
          <p:cNvSpPr/>
          <p:nvPr/>
        </p:nvSpPr>
        <p:spPr>
          <a:xfrm>
            <a:off x="14769900" y="4167207"/>
            <a:ext cx="2350800" cy="2433600"/>
          </a:xfrm>
          <a:prstGeom prst="flowChartDelay">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400" b="1" dirty="0">
                <a:latin typeface="Times New Roman" panose="02020603050405020304" pitchFamily="18" charset="0"/>
                <a:cs typeface="Times New Roman" panose="02020603050405020304" pitchFamily="18" charset="0"/>
              </a:rPr>
              <a:t>Smart Devices: </a:t>
            </a:r>
            <a:r>
              <a:rPr lang="en-US" sz="2400" dirty="0">
                <a:latin typeface="Times New Roman" panose="02020603050405020304" pitchFamily="18" charset="0"/>
                <a:cs typeface="Times New Roman" panose="02020603050405020304" pitchFamily="18" charset="0"/>
              </a:rPr>
              <a:t>Note-taking and handwriting-to-text apps</a:t>
            </a:r>
          </a:p>
        </p:txBody>
      </p:sp>
      <p:sp>
        <p:nvSpPr>
          <p:cNvPr id="25" name="Flowchart: Delay 24">
            <a:extLst>
              <a:ext uri="{FF2B5EF4-FFF2-40B4-BE49-F238E27FC236}">
                <a16:creationId xmlns:a16="http://schemas.microsoft.com/office/drawing/2014/main" id="{A649840E-F53A-162A-D4DB-45303B7118CB}"/>
              </a:ext>
            </a:extLst>
          </p:cNvPr>
          <p:cNvSpPr/>
          <p:nvPr/>
        </p:nvSpPr>
        <p:spPr>
          <a:xfrm>
            <a:off x="9123705" y="4071343"/>
            <a:ext cx="2350800" cy="2433600"/>
          </a:xfrm>
          <a:prstGeom prst="flowChartDelay">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2200" b="1" dirty="0">
                <a:latin typeface="Times New Roman" panose="02020603050405020304" pitchFamily="18" charset="0"/>
                <a:cs typeface="Times New Roman" panose="02020603050405020304" pitchFamily="18" charset="0"/>
              </a:rPr>
              <a:t>Document Digitization: </a:t>
            </a:r>
            <a:r>
              <a:rPr lang="en-US" sz="2200" dirty="0">
                <a:latin typeface="Times New Roman" panose="02020603050405020304" pitchFamily="18" charset="0"/>
                <a:cs typeface="Times New Roman" panose="02020603050405020304" pitchFamily="18" charset="0"/>
              </a:rPr>
              <a:t>Converting handwritten records to editable text</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a:extLst>
            <a:ext uri="{FF2B5EF4-FFF2-40B4-BE49-F238E27FC236}">
              <a16:creationId xmlns:a16="http://schemas.microsoft.com/office/drawing/2014/main" id="{E761C4E7-DCED-F10C-BF39-B4B6E3CC4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83D6A3-6B0C-C203-1C41-7679C6D906CC}"/>
              </a:ext>
            </a:extLst>
          </p:cNvPr>
          <p:cNvSpPr/>
          <p:nvPr/>
        </p:nvSpPr>
        <p:spPr>
          <a:xfrm>
            <a:off x="9109587" y="180491"/>
            <a:ext cx="13521435"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3" name="Freeform 3">
            <a:extLst>
              <a:ext uri="{FF2B5EF4-FFF2-40B4-BE49-F238E27FC236}">
                <a16:creationId xmlns:a16="http://schemas.microsoft.com/office/drawing/2014/main" id="{0EDEA6E2-A1EA-F35D-CCAA-BFB83A01BE97}"/>
              </a:ext>
            </a:extLst>
          </p:cNvPr>
          <p:cNvSpPr/>
          <p:nvPr/>
        </p:nvSpPr>
        <p:spPr>
          <a:xfrm rot="10800000">
            <a:off x="3145436" y="8191500"/>
            <a:ext cx="13521434" cy="3711521"/>
          </a:xfrm>
          <a:custGeom>
            <a:avLst/>
            <a:gdLst/>
            <a:ahLst/>
            <a:cxnLst/>
            <a:rect l="l" t="t" r="r" b="b"/>
            <a:pathLst>
              <a:path w="13521434" h="3711521">
                <a:moveTo>
                  <a:pt x="0" y="0"/>
                </a:moveTo>
                <a:lnTo>
                  <a:pt x="13521434" y="0"/>
                </a:lnTo>
                <a:lnTo>
                  <a:pt x="13521434" y="3711522"/>
                </a:lnTo>
                <a:lnTo>
                  <a:pt x="0" y="37115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latin typeface="Times New Roman" panose="02020603050405020304" pitchFamily="18" charset="0"/>
              <a:cs typeface="Times New Roman" panose="02020603050405020304" pitchFamily="18" charset="0"/>
            </a:endParaRPr>
          </a:p>
        </p:txBody>
      </p:sp>
      <p:sp>
        <p:nvSpPr>
          <p:cNvPr id="15" name="TextBox 15">
            <a:extLst>
              <a:ext uri="{FF2B5EF4-FFF2-40B4-BE49-F238E27FC236}">
                <a16:creationId xmlns:a16="http://schemas.microsoft.com/office/drawing/2014/main" id="{8A2366B4-841C-52F4-2249-392898C90EEF}"/>
              </a:ext>
            </a:extLst>
          </p:cNvPr>
          <p:cNvSpPr txBox="1"/>
          <p:nvPr/>
        </p:nvSpPr>
        <p:spPr>
          <a:xfrm>
            <a:off x="1752600" y="2192779"/>
            <a:ext cx="15925800" cy="5209760"/>
          </a:xfrm>
          <a:prstGeom prst="rect">
            <a:avLst/>
          </a:prstGeom>
        </p:spPr>
        <p:txBody>
          <a:bodyPr wrap="square" lIns="0" tIns="0" rIns="0" bIns="0" rtlCol="0" anchor="t">
            <a:spAutoFit/>
          </a:bodyPr>
          <a:lstStyle/>
          <a:p>
            <a:pPr>
              <a:lnSpc>
                <a:spcPts val="2880"/>
              </a:lnSpc>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Challenges and Limitations – NeuraInk (CNN Model)</a:t>
            </a:r>
          </a:p>
          <a:p>
            <a:pPr>
              <a:lnSpc>
                <a:spcPts val="2880"/>
              </a:lnSpc>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a:lnSpc>
                <a:spcPts val="2880"/>
              </a:lnSpc>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Variability in Handwriting: Diverse writing styles, sizes, and slants are hard to generalize.</a:t>
            </a:r>
          </a:p>
          <a:p>
            <a:pPr>
              <a:lnSpc>
                <a:spcPts val="2880"/>
              </a:lnSpc>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a:lnSpc>
                <a:spcPts val="2880"/>
              </a:lnSpc>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Noisy or Low-Quality Input: Blurred, smudged, or incomplete characters reduce accuracy.</a:t>
            </a:r>
          </a:p>
          <a:p>
            <a:pPr>
              <a:lnSpc>
                <a:spcPts val="2880"/>
              </a:lnSpc>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a:lnSpc>
                <a:spcPts val="2880"/>
              </a:lnSpc>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Similar-Looking Characters: Confusion between characters like 'O' vs '0', 'l' vs '1', 'S' vs '5’.</a:t>
            </a:r>
          </a:p>
          <a:p>
            <a:pPr>
              <a:lnSpc>
                <a:spcPts val="2880"/>
              </a:lnSpc>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a:lnSpc>
                <a:spcPts val="2880"/>
              </a:lnSpc>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High Training Data Requirement: CNNs need large labeled datasets to perform well.</a:t>
            </a:r>
          </a:p>
          <a:p>
            <a:pPr>
              <a:lnSpc>
                <a:spcPts val="2880"/>
              </a:lnSpc>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a:lnSpc>
                <a:spcPts val="2880"/>
              </a:lnSpc>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Computational Load: Training deep networks requires significant time and GPU resources.</a:t>
            </a:r>
          </a:p>
          <a:p>
            <a:pPr>
              <a:lnSpc>
                <a:spcPts val="2880"/>
              </a:lnSpc>
              <a:spcBef>
                <a:spcPct val="0"/>
              </a:spcBef>
            </a:pPr>
            <a:endPar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endParaRPr>
          </a:p>
          <a:p>
            <a:pPr>
              <a:lnSpc>
                <a:spcPts val="2880"/>
              </a:lnSpc>
              <a:spcBef>
                <a:spcPct val="0"/>
              </a:spcBef>
            </a:pPr>
            <a:r>
              <a:rPr lang="en-US" sz="3200" dirty="0">
                <a:solidFill>
                  <a:srgbClr val="FFFFFF"/>
                </a:solidFill>
                <a:latin typeface="Times New Roman" panose="02020603050405020304" pitchFamily="18" charset="0"/>
                <a:ea typeface="Anantason UltraExpanded Bold"/>
                <a:cs typeface="Times New Roman" panose="02020603050405020304" pitchFamily="18" charset="0"/>
                <a:sym typeface="Anantason UltraExpanded Bold"/>
              </a:rPr>
              <a:t>📦 Generalization Limitations: Model may perform poorly on data outside the training distribution.</a:t>
            </a:r>
          </a:p>
        </p:txBody>
      </p:sp>
      <p:sp>
        <p:nvSpPr>
          <p:cNvPr id="4" name="TextBox 12">
            <a:extLst>
              <a:ext uri="{FF2B5EF4-FFF2-40B4-BE49-F238E27FC236}">
                <a16:creationId xmlns:a16="http://schemas.microsoft.com/office/drawing/2014/main" id="{2B86AE51-D9A0-2A59-1DB9-2B185EBB4D8C}"/>
              </a:ext>
            </a:extLst>
          </p:cNvPr>
          <p:cNvSpPr txBox="1"/>
          <p:nvPr/>
        </p:nvSpPr>
        <p:spPr>
          <a:xfrm>
            <a:off x="4381500" y="1019097"/>
            <a:ext cx="9525000" cy="769441"/>
          </a:xfrm>
          <a:prstGeom prst="rect">
            <a:avLst/>
          </a:prstGeom>
        </p:spPr>
        <p:txBody>
          <a:bodyPr wrap="square" lIns="0" tIns="0" rIns="0" bIns="0" rtlCol="0" anchor="t">
            <a:spAutoFit/>
          </a:bodyPr>
          <a:lstStyle/>
          <a:p>
            <a:pPr lvl="0">
              <a:lnSpc>
                <a:spcPts val="6000"/>
              </a:lnSpc>
              <a:spcBef>
                <a:spcPct val="0"/>
              </a:spcBef>
            </a:pPr>
            <a:r>
              <a:rPr lang="en-US" sz="6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ea typeface="Anantason UltraExpanded Bold"/>
                <a:cs typeface="Times New Roman" panose="02020603050405020304" pitchFamily="18" charset="0"/>
                <a:sym typeface="Anantason UltraExpanded Bold"/>
              </a:rPr>
              <a:t>Challenges and Limitations</a:t>
            </a:r>
          </a:p>
        </p:txBody>
      </p:sp>
    </p:spTree>
    <p:extLst>
      <p:ext uri="{BB962C8B-B14F-4D97-AF65-F5344CB8AC3E}">
        <p14:creationId xmlns:p14="http://schemas.microsoft.com/office/powerpoint/2010/main" val="1961009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a:extLst>
            <a:ext uri="{FF2B5EF4-FFF2-40B4-BE49-F238E27FC236}">
              <a16:creationId xmlns:a16="http://schemas.microsoft.com/office/drawing/2014/main" id="{02B39FE4-D644-5D2C-8FBA-CD7868AB626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8EB76F-6811-7961-1059-DE20E568B1A1}"/>
              </a:ext>
            </a:extLst>
          </p:cNvPr>
          <p:cNvSpPr/>
          <p:nvPr/>
        </p:nvSpPr>
        <p:spPr>
          <a:xfrm>
            <a:off x="-2895600" y="-2476500"/>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2"/>
            <a:stretch>
              <a:fillRect/>
            </a:stretch>
          </a:blipFill>
        </p:spPr>
      </p:sp>
      <p:sp>
        <p:nvSpPr>
          <p:cNvPr id="3" name="Freeform 3">
            <a:extLst>
              <a:ext uri="{FF2B5EF4-FFF2-40B4-BE49-F238E27FC236}">
                <a16:creationId xmlns:a16="http://schemas.microsoft.com/office/drawing/2014/main" id="{A7080C40-3317-E6A5-1630-B752F53411F5}"/>
              </a:ext>
            </a:extLst>
          </p:cNvPr>
          <p:cNvSpPr/>
          <p:nvPr/>
        </p:nvSpPr>
        <p:spPr>
          <a:xfrm>
            <a:off x="1923995" y="7402539"/>
            <a:ext cx="13521434" cy="3711521"/>
          </a:xfrm>
          <a:custGeom>
            <a:avLst/>
            <a:gdLst/>
            <a:ahLst/>
            <a:cxnLst/>
            <a:rect l="l" t="t" r="r" b="b"/>
            <a:pathLst>
              <a:path w="13521434" h="3711521">
                <a:moveTo>
                  <a:pt x="0" y="0"/>
                </a:moveTo>
                <a:lnTo>
                  <a:pt x="13521434" y="0"/>
                </a:lnTo>
                <a:lnTo>
                  <a:pt x="13521434" y="3711522"/>
                </a:lnTo>
                <a:lnTo>
                  <a:pt x="0" y="37115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12">
            <a:extLst>
              <a:ext uri="{FF2B5EF4-FFF2-40B4-BE49-F238E27FC236}">
                <a16:creationId xmlns:a16="http://schemas.microsoft.com/office/drawing/2014/main" id="{0528C3F0-DFD2-9AD8-F7D4-CE692054C329}"/>
              </a:ext>
            </a:extLst>
          </p:cNvPr>
          <p:cNvSpPr txBox="1"/>
          <p:nvPr/>
        </p:nvSpPr>
        <p:spPr>
          <a:xfrm>
            <a:off x="5553940" y="1302899"/>
            <a:ext cx="7180120" cy="769441"/>
          </a:xfrm>
          <a:prstGeom prst="rect">
            <a:avLst/>
          </a:prstGeom>
        </p:spPr>
        <p:txBody>
          <a:bodyPr wrap="square" lIns="0" tIns="0" rIns="0" bIns="0" rtlCol="0" anchor="t">
            <a:spAutoFit/>
          </a:bodyPr>
          <a:lstStyle/>
          <a:p>
            <a:pPr lvl="0">
              <a:lnSpc>
                <a:spcPts val="6000"/>
              </a:lnSpc>
              <a:spcBef>
                <a:spcPct val="0"/>
              </a:spcBef>
            </a:pPr>
            <a:r>
              <a:rPr lang="en-US" sz="6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ea typeface="Anantason UltraExpanded Bold"/>
                <a:cs typeface="Times New Roman" panose="02020603050405020304" pitchFamily="18" charset="0"/>
                <a:sym typeface="Anantason UltraExpanded Bold"/>
              </a:rPr>
              <a:t>Future Improvements</a:t>
            </a:r>
          </a:p>
        </p:txBody>
      </p:sp>
      <p:sp>
        <p:nvSpPr>
          <p:cNvPr id="5" name="Arrow: Right 4">
            <a:extLst>
              <a:ext uri="{FF2B5EF4-FFF2-40B4-BE49-F238E27FC236}">
                <a16:creationId xmlns:a16="http://schemas.microsoft.com/office/drawing/2014/main" id="{2D9122EE-F52C-8BD0-1D2D-423E47940C9A}"/>
              </a:ext>
            </a:extLst>
          </p:cNvPr>
          <p:cNvSpPr/>
          <p:nvPr/>
        </p:nvSpPr>
        <p:spPr>
          <a:xfrm>
            <a:off x="838199" y="3115320"/>
            <a:ext cx="17116173" cy="3711521"/>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3B424AD2-D9D0-D072-8CF4-05DB9A63297F}"/>
              </a:ext>
            </a:extLst>
          </p:cNvPr>
          <p:cNvGrpSpPr/>
          <p:nvPr/>
        </p:nvGrpSpPr>
        <p:grpSpPr>
          <a:xfrm>
            <a:off x="333627" y="3369194"/>
            <a:ext cx="1796096" cy="2917305"/>
            <a:chOff x="2743200" y="3695700"/>
            <a:chExt cx="1600200" cy="2667000"/>
          </a:xfrm>
        </p:grpSpPr>
        <p:sp>
          <p:nvSpPr>
            <p:cNvPr id="6" name="Rectangle: Rounded Corners 5">
              <a:extLst>
                <a:ext uri="{FF2B5EF4-FFF2-40B4-BE49-F238E27FC236}">
                  <a16:creationId xmlns:a16="http://schemas.microsoft.com/office/drawing/2014/main" id="{800EE05B-FA56-F82B-8751-118854A2AC27}"/>
                </a:ext>
              </a:extLst>
            </p:cNvPr>
            <p:cNvSpPr/>
            <p:nvPr/>
          </p:nvSpPr>
          <p:spPr>
            <a:xfrm>
              <a:off x="2743200" y="4152900"/>
              <a:ext cx="1600200" cy="220980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Add Eraser tool to brush mode</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B9877FC5-8852-7C91-AC63-1B4BF58B7D43}"/>
                </a:ext>
              </a:extLst>
            </p:cNvPr>
            <p:cNvSpPr/>
            <p:nvPr/>
          </p:nvSpPr>
          <p:spPr>
            <a:xfrm>
              <a:off x="3200400" y="3695700"/>
              <a:ext cx="685800" cy="762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1</a:t>
              </a:r>
              <a:endParaRPr lang="en-IN" b="1" dirty="0">
                <a:latin typeface="Times New Roman" panose="02020603050405020304" pitchFamily="18" charset="0"/>
                <a:cs typeface="Times New Roman" panose="02020603050405020304" pitchFamily="18" charset="0"/>
              </a:endParaRPr>
            </a:p>
          </p:txBody>
        </p:sp>
      </p:grpSp>
      <p:grpSp>
        <p:nvGrpSpPr>
          <p:cNvPr id="9" name="Group 8">
            <a:extLst>
              <a:ext uri="{FF2B5EF4-FFF2-40B4-BE49-F238E27FC236}">
                <a16:creationId xmlns:a16="http://schemas.microsoft.com/office/drawing/2014/main" id="{23E3633D-7ABC-41A3-F3D7-C39A0BF54D19}"/>
              </a:ext>
            </a:extLst>
          </p:cNvPr>
          <p:cNvGrpSpPr/>
          <p:nvPr/>
        </p:nvGrpSpPr>
        <p:grpSpPr>
          <a:xfrm>
            <a:off x="8256393" y="3405919"/>
            <a:ext cx="1796400" cy="2872800"/>
            <a:chOff x="2743200" y="3695700"/>
            <a:chExt cx="1796400" cy="2872800"/>
          </a:xfrm>
        </p:grpSpPr>
        <p:sp>
          <p:nvSpPr>
            <p:cNvPr id="10" name="Rectangle: Rounded Corners 9">
              <a:extLst>
                <a:ext uri="{FF2B5EF4-FFF2-40B4-BE49-F238E27FC236}">
                  <a16:creationId xmlns:a16="http://schemas.microsoft.com/office/drawing/2014/main" id="{4E9EFA1F-8B0C-A4A0-F6C9-F17E28F552C8}"/>
                </a:ext>
              </a:extLst>
            </p:cNvPr>
            <p:cNvSpPr/>
            <p:nvPr/>
          </p:nvSpPr>
          <p:spPr>
            <a:xfrm>
              <a:off x="2743200" y="4152900"/>
              <a:ext cx="1796400" cy="241560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Build a mobile version using Kivy or Flutter</a:t>
              </a:r>
              <a:endParaRPr lang="en-IN" sz="2400" b="1" dirty="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A6414FF4-886B-0EA8-6D8D-7200D286D368}"/>
                </a:ext>
              </a:extLst>
            </p:cNvPr>
            <p:cNvSpPr/>
            <p:nvPr/>
          </p:nvSpPr>
          <p:spPr>
            <a:xfrm>
              <a:off x="3253216" y="3695700"/>
              <a:ext cx="685800" cy="762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5</a:t>
              </a:r>
              <a:endParaRPr lang="en-IN" b="1" dirty="0">
                <a:latin typeface="Times New Roman" panose="02020603050405020304" pitchFamily="18" charset="0"/>
                <a:cs typeface="Times New Roman" panose="02020603050405020304" pitchFamily="18" charset="0"/>
              </a:endParaRPr>
            </a:p>
          </p:txBody>
        </p:sp>
      </p:grpSp>
      <p:grpSp>
        <p:nvGrpSpPr>
          <p:cNvPr id="12" name="Group 11">
            <a:extLst>
              <a:ext uri="{FF2B5EF4-FFF2-40B4-BE49-F238E27FC236}">
                <a16:creationId xmlns:a16="http://schemas.microsoft.com/office/drawing/2014/main" id="{38057210-D9C0-8676-4C97-B0F9113209B9}"/>
              </a:ext>
            </a:extLst>
          </p:cNvPr>
          <p:cNvGrpSpPr/>
          <p:nvPr/>
        </p:nvGrpSpPr>
        <p:grpSpPr>
          <a:xfrm>
            <a:off x="6282786" y="3413699"/>
            <a:ext cx="1796400" cy="2872800"/>
            <a:chOff x="2743200" y="3695700"/>
            <a:chExt cx="1796400" cy="2872800"/>
          </a:xfrm>
        </p:grpSpPr>
        <p:sp>
          <p:nvSpPr>
            <p:cNvPr id="13" name="Rectangle: Rounded Corners 12">
              <a:extLst>
                <a:ext uri="{FF2B5EF4-FFF2-40B4-BE49-F238E27FC236}">
                  <a16:creationId xmlns:a16="http://schemas.microsoft.com/office/drawing/2014/main" id="{63C46388-0E7C-7CA0-6B63-40122846A0B1}"/>
                </a:ext>
              </a:extLst>
            </p:cNvPr>
            <p:cNvSpPr/>
            <p:nvPr/>
          </p:nvSpPr>
          <p:spPr>
            <a:xfrm>
              <a:off x="2743200" y="4152900"/>
              <a:ext cx="1796400" cy="241560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Deploy as a web app using Flask/Streamlit</a:t>
              </a:r>
              <a:endParaRPr lang="en-IN" sz="2000" b="1" dirty="0">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7946A964-A56B-15A3-FCEA-C962A2F3A115}"/>
                </a:ext>
              </a:extLst>
            </p:cNvPr>
            <p:cNvSpPr/>
            <p:nvPr/>
          </p:nvSpPr>
          <p:spPr>
            <a:xfrm>
              <a:off x="3281674" y="3695700"/>
              <a:ext cx="685800" cy="762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4</a:t>
              </a:r>
              <a:endParaRPr lang="en-IN" b="1" dirty="0">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EB8B55A6-B825-32B1-D402-833EE96BE54E}"/>
              </a:ext>
            </a:extLst>
          </p:cNvPr>
          <p:cNvGrpSpPr/>
          <p:nvPr/>
        </p:nvGrpSpPr>
        <p:grpSpPr>
          <a:xfrm>
            <a:off x="2309740" y="3449017"/>
            <a:ext cx="1796400" cy="2829702"/>
            <a:chOff x="2743200" y="3695700"/>
            <a:chExt cx="1600200" cy="3124199"/>
          </a:xfrm>
        </p:grpSpPr>
        <p:sp>
          <p:nvSpPr>
            <p:cNvPr id="17" name="Rectangle: Rounded Corners 16">
              <a:extLst>
                <a:ext uri="{FF2B5EF4-FFF2-40B4-BE49-F238E27FC236}">
                  <a16:creationId xmlns:a16="http://schemas.microsoft.com/office/drawing/2014/main" id="{3A233719-1D62-F1B5-F7AD-2B95CFAA5440}"/>
                </a:ext>
              </a:extLst>
            </p:cNvPr>
            <p:cNvSpPr/>
            <p:nvPr/>
          </p:nvSpPr>
          <p:spPr>
            <a:xfrm>
              <a:off x="2743200" y="4152899"/>
              <a:ext cx="1600200" cy="266700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Integrate region selection for more precise camera predictions</a:t>
              </a:r>
              <a:endParaRPr lang="en-IN" sz="2000" b="1" dirty="0">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AC4E0EEA-7C4B-02D1-6A7C-ACDBA096535C}"/>
                </a:ext>
              </a:extLst>
            </p:cNvPr>
            <p:cNvSpPr/>
            <p:nvPr/>
          </p:nvSpPr>
          <p:spPr>
            <a:xfrm>
              <a:off x="3200400" y="3695700"/>
              <a:ext cx="685800" cy="762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2</a:t>
              </a:r>
              <a:endParaRPr lang="en-IN" b="1" dirty="0">
                <a:latin typeface="Times New Roman" panose="02020603050405020304" pitchFamily="18" charset="0"/>
                <a:cs typeface="Times New Roman" panose="02020603050405020304" pitchFamily="18" charset="0"/>
              </a:endParaRPr>
            </a:p>
          </p:txBody>
        </p:sp>
      </p:grpSp>
      <p:grpSp>
        <p:nvGrpSpPr>
          <p:cNvPr id="19" name="Group 18">
            <a:extLst>
              <a:ext uri="{FF2B5EF4-FFF2-40B4-BE49-F238E27FC236}">
                <a16:creationId xmlns:a16="http://schemas.microsoft.com/office/drawing/2014/main" id="{8948C6FA-F8D6-9A50-86CB-F27B2464309E}"/>
              </a:ext>
            </a:extLst>
          </p:cNvPr>
          <p:cNvGrpSpPr/>
          <p:nvPr/>
        </p:nvGrpSpPr>
        <p:grpSpPr>
          <a:xfrm>
            <a:off x="4339330" y="3369194"/>
            <a:ext cx="1796400" cy="2872800"/>
            <a:chOff x="2514600" y="3695700"/>
            <a:chExt cx="1796400" cy="2872800"/>
          </a:xfrm>
        </p:grpSpPr>
        <p:sp>
          <p:nvSpPr>
            <p:cNvPr id="20" name="Rectangle: Rounded Corners 19">
              <a:extLst>
                <a:ext uri="{FF2B5EF4-FFF2-40B4-BE49-F238E27FC236}">
                  <a16:creationId xmlns:a16="http://schemas.microsoft.com/office/drawing/2014/main" id="{9687C4B0-BB23-BAED-41B1-B86F41FE3DB0}"/>
                </a:ext>
              </a:extLst>
            </p:cNvPr>
            <p:cNvSpPr/>
            <p:nvPr/>
          </p:nvSpPr>
          <p:spPr>
            <a:xfrm>
              <a:off x="2514600" y="4152900"/>
              <a:ext cx="1796400" cy="24156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700" b="1" dirty="0">
                  <a:latin typeface="Times New Roman" panose="02020603050405020304" pitchFamily="18" charset="0"/>
                  <a:cs typeface="Times New Roman" panose="02020603050405020304" pitchFamily="18" charset="0"/>
                </a:rPr>
                <a:t>Allow user to correct mispredictions and retrain model incrementally</a:t>
              </a:r>
              <a:endParaRPr lang="en-IN" sz="1700" b="1" dirty="0">
                <a:latin typeface="Times New Roman" panose="02020603050405020304" pitchFamily="18" charset="0"/>
                <a:cs typeface="Times New Roman" panose="02020603050405020304" pitchFamily="18" charset="0"/>
              </a:endParaRPr>
            </a:p>
          </p:txBody>
        </p:sp>
        <p:sp>
          <p:nvSpPr>
            <p:cNvPr id="21" name="Oval 20">
              <a:extLst>
                <a:ext uri="{FF2B5EF4-FFF2-40B4-BE49-F238E27FC236}">
                  <a16:creationId xmlns:a16="http://schemas.microsoft.com/office/drawing/2014/main" id="{4DB050FA-D6B3-43A5-2E66-15183A00DB92}"/>
                </a:ext>
              </a:extLst>
            </p:cNvPr>
            <p:cNvSpPr/>
            <p:nvPr/>
          </p:nvSpPr>
          <p:spPr>
            <a:xfrm>
              <a:off x="3048000" y="3695700"/>
              <a:ext cx="685800" cy="7620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3</a:t>
              </a:r>
              <a:endParaRPr lang="en-IN" b="1" dirty="0">
                <a:latin typeface="Times New Roman" panose="02020603050405020304" pitchFamily="18" charset="0"/>
                <a:cs typeface="Times New Roman" panose="02020603050405020304" pitchFamily="18" charset="0"/>
              </a:endParaRPr>
            </a:p>
          </p:txBody>
        </p:sp>
      </p:grpSp>
      <p:grpSp>
        <p:nvGrpSpPr>
          <p:cNvPr id="22" name="Group 21">
            <a:extLst>
              <a:ext uri="{FF2B5EF4-FFF2-40B4-BE49-F238E27FC236}">
                <a16:creationId xmlns:a16="http://schemas.microsoft.com/office/drawing/2014/main" id="{144981D9-1F76-C145-2EB4-4D4CFE9A80D1}"/>
              </a:ext>
            </a:extLst>
          </p:cNvPr>
          <p:cNvGrpSpPr/>
          <p:nvPr/>
        </p:nvGrpSpPr>
        <p:grpSpPr>
          <a:xfrm>
            <a:off x="10241470" y="3344614"/>
            <a:ext cx="1796400" cy="2872800"/>
            <a:chOff x="2743200" y="3695700"/>
            <a:chExt cx="1796400" cy="2872800"/>
          </a:xfrm>
        </p:grpSpPr>
        <p:sp>
          <p:nvSpPr>
            <p:cNvPr id="23" name="Rectangle: Rounded Corners 22">
              <a:extLst>
                <a:ext uri="{FF2B5EF4-FFF2-40B4-BE49-F238E27FC236}">
                  <a16:creationId xmlns:a16="http://schemas.microsoft.com/office/drawing/2014/main" id="{E8EA6CEC-10B0-5563-2B40-CEE38BFF376B}"/>
                </a:ext>
              </a:extLst>
            </p:cNvPr>
            <p:cNvSpPr/>
            <p:nvPr/>
          </p:nvSpPr>
          <p:spPr>
            <a:xfrm>
              <a:off x="2743200" y="4152900"/>
              <a:ext cx="1796400" cy="2415600"/>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Add handwriting stroke animation replay</a:t>
              </a:r>
              <a:endParaRPr lang="en-IN" sz="2400" b="1" dirty="0">
                <a:latin typeface="Times New Roman" panose="02020603050405020304" pitchFamily="18" charset="0"/>
                <a:cs typeface="Times New Roman" panose="02020603050405020304" pitchFamily="18" charset="0"/>
              </a:endParaRPr>
            </a:p>
          </p:txBody>
        </p:sp>
        <p:sp>
          <p:nvSpPr>
            <p:cNvPr id="24" name="Oval 23">
              <a:extLst>
                <a:ext uri="{FF2B5EF4-FFF2-40B4-BE49-F238E27FC236}">
                  <a16:creationId xmlns:a16="http://schemas.microsoft.com/office/drawing/2014/main" id="{F144004E-468A-968F-4E9E-8ABA23BC4F0B}"/>
                </a:ext>
              </a:extLst>
            </p:cNvPr>
            <p:cNvSpPr/>
            <p:nvPr/>
          </p:nvSpPr>
          <p:spPr>
            <a:xfrm>
              <a:off x="3265079" y="3695700"/>
              <a:ext cx="685800" cy="76200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6</a:t>
              </a:r>
              <a:endParaRPr lang="en-IN" b="1" dirty="0">
                <a:latin typeface="Times New Roman" panose="02020603050405020304" pitchFamily="18" charset="0"/>
                <a:cs typeface="Times New Roman" panose="02020603050405020304" pitchFamily="18" charset="0"/>
              </a:endParaRPr>
            </a:p>
          </p:txBody>
        </p:sp>
      </p:grpSp>
      <p:grpSp>
        <p:nvGrpSpPr>
          <p:cNvPr id="25" name="Group 24">
            <a:extLst>
              <a:ext uri="{FF2B5EF4-FFF2-40B4-BE49-F238E27FC236}">
                <a16:creationId xmlns:a16="http://schemas.microsoft.com/office/drawing/2014/main" id="{6EA88227-DFE9-03E7-4322-20675372D1B2}"/>
              </a:ext>
            </a:extLst>
          </p:cNvPr>
          <p:cNvGrpSpPr/>
          <p:nvPr/>
        </p:nvGrpSpPr>
        <p:grpSpPr>
          <a:xfrm>
            <a:off x="12184926" y="3358133"/>
            <a:ext cx="1796400" cy="2872800"/>
            <a:chOff x="2743200" y="3695700"/>
            <a:chExt cx="1796400" cy="2872800"/>
          </a:xfrm>
        </p:grpSpPr>
        <p:sp>
          <p:nvSpPr>
            <p:cNvPr id="26" name="Rectangle: Rounded Corners 25">
              <a:extLst>
                <a:ext uri="{FF2B5EF4-FFF2-40B4-BE49-F238E27FC236}">
                  <a16:creationId xmlns:a16="http://schemas.microsoft.com/office/drawing/2014/main" id="{4423B5B6-1B56-3B9B-8101-94334D1F8F40}"/>
                </a:ext>
              </a:extLst>
            </p:cNvPr>
            <p:cNvSpPr/>
            <p:nvPr/>
          </p:nvSpPr>
          <p:spPr>
            <a:xfrm>
              <a:off x="2743200" y="4152900"/>
              <a:ext cx="1796400" cy="241560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IN" sz="2000" b="1" dirty="0">
                  <a:latin typeface="Times New Roman" panose="02020603050405020304" pitchFamily="18" charset="0"/>
                  <a:cs typeface="Times New Roman" panose="02020603050405020304" pitchFamily="18" charset="0"/>
                </a:rPr>
                <a:t>Add .exe packaging for easy sharing (via PyInstaller)</a:t>
              </a:r>
            </a:p>
          </p:txBody>
        </p:sp>
        <p:sp>
          <p:nvSpPr>
            <p:cNvPr id="27" name="Oval 26">
              <a:extLst>
                <a:ext uri="{FF2B5EF4-FFF2-40B4-BE49-F238E27FC236}">
                  <a16:creationId xmlns:a16="http://schemas.microsoft.com/office/drawing/2014/main" id="{4988C60D-7285-E814-F595-075F7AE0220F}"/>
                </a:ext>
              </a:extLst>
            </p:cNvPr>
            <p:cNvSpPr/>
            <p:nvPr/>
          </p:nvSpPr>
          <p:spPr>
            <a:xfrm>
              <a:off x="3266161" y="3695700"/>
              <a:ext cx="685800" cy="76200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7</a:t>
              </a:r>
              <a:endParaRPr lang="en-IN" b="1" dirty="0">
                <a:latin typeface="Times New Roman" panose="02020603050405020304" pitchFamily="18" charset="0"/>
                <a:cs typeface="Times New Roman" panose="02020603050405020304" pitchFamily="18" charset="0"/>
              </a:endParaRPr>
            </a:p>
          </p:txBody>
        </p:sp>
      </p:grpSp>
      <p:grpSp>
        <p:nvGrpSpPr>
          <p:cNvPr id="28" name="Group 27">
            <a:extLst>
              <a:ext uri="{FF2B5EF4-FFF2-40B4-BE49-F238E27FC236}">
                <a16:creationId xmlns:a16="http://schemas.microsoft.com/office/drawing/2014/main" id="{D6A8A236-4133-E0CA-650A-6018DDB1B6C2}"/>
              </a:ext>
            </a:extLst>
          </p:cNvPr>
          <p:cNvGrpSpPr/>
          <p:nvPr/>
        </p:nvGrpSpPr>
        <p:grpSpPr>
          <a:xfrm>
            <a:off x="14128382" y="3369194"/>
            <a:ext cx="1796400" cy="2872800"/>
            <a:chOff x="2743200" y="3695700"/>
            <a:chExt cx="1796400" cy="2872800"/>
          </a:xfrm>
        </p:grpSpPr>
        <p:sp>
          <p:nvSpPr>
            <p:cNvPr id="29" name="Rectangle: Rounded Corners 28">
              <a:extLst>
                <a:ext uri="{FF2B5EF4-FFF2-40B4-BE49-F238E27FC236}">
                  <a16:creationId xmlns:a16="http://schemas.microsoft.com/office/drawing/2014/main" id="{8C63FECF-2707-C28E-A4F5-C794D164B114}"/>
                </a:ext>
              </a:extLst>
            </p:cNvPr>
            <p:cNvSpPr/>
            <p:nvPr/>
          </p:nvSpPr>
          <p:spPr>
            <a:xfrm>
              <a:off x="2743200" y="4152900"/>
              <a:ext cx="1796400" cy="241560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Visualize CNN layer activations for explainability</a:t>
              </a:r>
            </a:p>
          </p:txBody>
        </p:sp>
        <p:sp>
          <p:nvSpPr>
            <p:cNvPr id="30" name="Oval 29">
              <a:extLst>
                <a:ext uri="{FF2B5EF4-FFF2-40B4-BE49-F238E27FC236}">
                  <a16:creationId xmlns:a16="http://schemas.microsoft.com/office/drawing/2014/main" id="{B0DCBC18-0CBE-E4B5-0B75-2EEC7B0A0E80}"/>
                </a:ext>
              </a:extLst>
            </p:cNvPr>
            <p:cNvSpPr/>
            <p:nvPr/>
          </p:nvSpPr>
          <p:spPr>
            <a:xfrm>
              <a:off x="3273544" y="3695700"/>
              <a:ext cx="685800" cy="762000"/>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8</a:t>
              </a:r>
              <a:endParaRPr lang="en-IN" b="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506664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a:extLst>
            <a:ext uri="{FF2B5EF4-FFF2-40B4-BE49-F238E27FC236}">
              <a16:creationId xmlns:a16="http://schemas.microsoft.com/office/drawing/2014/main" id="{FE2AEA03-68FC-1648-C4B6-0E166A587A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B5C272D-5119-87A0-84B7-DB2355E255AA}"/>
              </a:ext>
            </a:extLst>
          </p:cNvPr>
          <p:cNvSpPr/>
          <p:nvPr/>
        </p:nvSpPr>
        <p:spPr>
          <a:xfrm>
            <a:off x="13411200" y="6087330"/>
            <a:ext cx="6931681" cy="6186525"/>
          </a:xfrm>
          <a:custGeom>
            <a:avLst/>
            <a:gdLst/>
            <a:ahLst/>
            <a:cxnLst/>
            <a:rect l="l" t="t" r="r" b="b"/>
            <a:pathLst>
              <a:path w="6931681" h="6186525">
                <a:moveTo>
                  <a:pt x="0" y="0"/>
                </a:moveTo>
                <a:lnTo>
                  <a:pt x="6931681" y="0"/>
                </a:lnTo>
                <a:lnTo>
                  <a:pt x="6931681" y="6186526"/>
                </a:lnTo>
                <a:lnTo>
                  <a:pt x="0" y="61865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a:extLst>
              <a:ext uri="{FF2B5EF4-FFF2-40B4-BE49-F238E27FC236}">
                <a16:creationId xmlns:a16="http://schemas.microsoft.com/office/drawing/2014/main" id="{7838051E-ED45-2949-BFF7-21752EF30AF6}"/>
              </a:ext>
            </a:extLst>
          </p:cNvPr>
          <p:cNvSpPr/>
          <p:nvPr/>
        </p:nvSpPr>
        <p:spPr>
          <a:xfrm>
            <a:off x="-3657600" y="-4076700"/>
            <a:ext cx="16355952" cy="16022018"/>
          </a:xfrm>
          <a:custGeom>
            <a:avLst/>
            <a:gdLst/>
            <a:ahLst/>
            <a:cxnLst/>
            <a:rect l="l" t="t" r="r" b="b"/>
            <a:pathLst>
              <a:path w="16355952" h="16022018">
                <a:moveTo>
                  <a:pt x="0" y="0"/>
                </a:moveTo>
                <a:lnTo>
                  <a:pt x="16355952" y="0"/>
                </a:lnTo>
                <a:lnTo>
                  <a:pt x="16355952" y="16022018"/>
                </a:lnTo>
                <a:lnTo>
                  <a:pt x="0" y="16022018"/>
                </a:lnTo>
                <a:lnTo>
                  <a:pt x="0" y="0"/>
                </a:lnTo>
                <a:close/>
              </a:path>
            </a:pathLst>
          </a:custGeom>
          <a:blipFill>
            <a:blip r:embed="rId4"/>
            <a:stretch>
              <a:fillRect/>
            </a:stretch>
          </a:blipFill>
        </p:spPr>
        <p:txBody>
          <a:bodyPr/>
          <a:lstStyle/>
          <a:p>
            <a:endParaRPr lang="en-IN" dirty="0"/>
          </a:p>
        </p:txBody>
      </p:sp>
      <p:sp>
        <p:nvSpPr>
          <p:cNvPr id="4" name="TextBox 4">
            <a:extLst>
              <a:ext uri="{FF2B5EF4-FFF2-40B4-BE49-F238E27FC236}">
                <a16:creationId xmlns:a16="http://schemas.microsoft.com/office/drawing/2014/main" id="{2DFDE60B-E536-8B44-6518-E71DF29D31C3}"/>
              </a:ext>
            </a:extLst>
          </p:cNvPr>
          <p:cNvSpPr txBox="1"/>
          <p:nvPr/>
        </p:nvSpPr>
        <p:spPr>
          <a:xfrm>
            <a:off x="7458074" y="1218363"/>
            <a:ext cx="3819526" cy="769441"/>
          </a:xfrm>
          <a:prstGeom prst="rect">
            <a:avLst/>
          </a:prstGeom>
        </p:spPr>
        <p:txBody>
          <a:bodyPr wrap="square" lIns="0" tIns="0" rIns="0" bIns="0" rtlCol="0" anchor="t">
            <a:spAutoFit/>
          </a:bodyPr>
          <a:lstStyle/>
          <a:p>
            <a:pPr lvl="0">
              <a:lnSpc>
                <a:spcPts val="6000"/>
              </a:lnSpc>
              <a:spcBef>
                <a:spcPct val="0"/>
              </a:spcBef>
            </a:pPr>
            <a:r>
              <a:rPr lang="en-IN" sz="6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Times New Roman" panose="02020603050405020304" pitchFamily="18" charset="0"/>
                <a:cs typeface="Times New Roman" panose="02020603050405020304" pitchFamily="18" charset="0"/>
              </a:rPr>
              <a:t>Conclusion</a:t>
            </a:r>
            <a:endParaRPr lang="en-US" sz="5400" b="1" dirty="0">
              <a:solidFill>
                <a:srgbClr val="00B050"/>
              </a:solidFill>
              <a:latin typeface="Times New Roman" panose="02020603050405020304" pitchFamily="18" charset="0"/>
              <a:ea typeface="Anantason UltraExpanded Bold"/>
              <a:cs typeface="Times New Roman" panose="02020603050405020304" pitchFamily="18" charset="0"/>
              <a:sym typeface="Anantason UltraExpanded Bold"/>
            </a:endParaRPr>
          </a:p>
        </p:txBody>
      </p:sp>
      <p:sp>
        <p:nvSpPr>
          <p:cNvPr id="5" name="TextBox 5">
            <a:extLst>
              <a:ext uri="{FF2B5EF4-FFF2-40B4-BE49-F238E27FC236}">
                <a16:creationId xmlns:a16="http://schemas.microsoft.com/office/drawing/2014/main" id="{935A9484-1DAE-0CB4-4C2F-34EE3FE2B5F7}"/>
              </a:ext>
            </a:extLst>
          </p:cNvPr>
          <p:cNvSpPr txBox="1"/>
          <p:nvPr/>
        </p:nvSpPr>
        <p:spPr>
          <a:xfrm>
            <a:off x="2056884" y="2603587"/>
            <a:ext cx="14146152" cy="4431983"/>
          </a:xfrm>
          <a:prstGeom prst="rect">
            <a:avLst/>
          </a:prstGeom>
        </p:spPr>
        <p:txBody>
          <a:bodyPr wrap="square" lIns="0" tIns="0" rIns="0" bIns="0" rtlCol="0" anchor="t">
            <a:spAutoFit/>
          </a:bodyPr>
          <a:lstStyle/>
          <a:p>
            <a:pPr>
              <a:spcBef>
                <a:spcPct val="0"/>
              </a:spcBef>
            </a:pPr>
            <a:r>
              <a:rPr lang="en-US" sz="3200" dirty="0">
                <a:solidFill>
                  <a:schemeClr val="bg1"/>
                </a:solidFill>
                <a:latin typeface="Times New Roman" panose="02020603050405020304" pitchFamily="18" charset="0"/>
                <a:cs typeface="Times New Roman" panose="02020603050405020304" pitchFamily="18" charset="0"/>
              </a:rPr>
              <a:t>NeuraInk successfully demonstrates the power of </a:t>
            </a:r>
            <a:r>
              <a:rPr lang="en-US" sz="3200" b="1" dirty="0">
                <a:solidFill>
                  <a:schemeClr val="bg1"/>
                </a:solidFill>
                <a:latin typeface="Times New Roman" panose="02020603050405020304" pitchFamily="18" charset="0"/>
                <a:cs typeface="Times New Roman" panose="02020603050405020304" pitchFamily="18" charset="0"/>
              </a:rPr>
              <a:t>Convolutional Neural Networks (CNNs)</a:t>
            </a:r>
            <a:r>
              <a:rPr lang="en-US" sz="3200" dirty="0">
                <a:solidFill>
                  <a:schemeClr val="bg1"/>
                </a:solidFill>
                <a:latin typeface="Times New Roman" panose="02020603050405020304" pitchFamily="18" charset="0"/>
                <a:cs typeface="Times New Roman" panose="02020603050405020304" pitchFamily="18" charset="0"/>
              </a:rPr>
              <a:t> in recognizing handwritten digits and alphabets with real-time accuracy. By combining a deep learning model trained on the EMNIST dataset with a user-friendly interface, it bridges the gap between AI theory and practical application. The system’s dual input modes—canvas and camera—highlight its adaptability, while techniques like </a:t>
            </a:r>
            <a:r>
              <a:rPr lang="en-US" sz="3200" b="1" dirty="0">
                <a:solidFill>
                  <a:schemeClr val="bg1"/>
                </a:solidFill>
                <a:latin typeface="Times New Roman" panose="02020603050405020304" pitchFamily="18" charset="0"/>
                <a:cs typeface="Times New Roman" panose="02020603050405020304" pitchFamily="18" charset="0"/>
              </a:rPr>
              <a:t>Batch Normalization</a:t>
            </a:r>
            <a:r>
              <a:rPr lang="en-US" sz="3200" dirty="0">
                <a:solidFill>
                  <a:schemeClr val="bg1"/>
                </a:solidFill>
                <a:latin typeface="Times New Roman" panose="02020603050405020304" pitchFamily="18" charset="0"/>
                <a:cs typeface="Times New Roman" panose="02020603050405020304" pitchFamily="18" charset="0"/>
              </a:rPr>
              <a:t>, </a:t>
            </a:r>
            <a:r>
              <a:rPr lang="en-US" sz="3200" b="1" dirty="0">
                <a:solidFill>
                  <a:schemeClr val="bg1"/>
                </a:solidFill>
                <a:latin typeface="Times New Roman" panose="02020603050405020304" pitchFamily="18" charset="0"/>
                <a:cs typeface="Times New Roman" panose="02020603050405020304" pitchFamily="18" charset="0"/>
              </a:rPr>
              <a:t>Dropout</a:t>
            </a:r>
            <a:r>
              <a:rPr lang="en-US" sz="3200" dirty="0">
                <a:solidFill>
                  <a:schemeClr val="bg1"/>
                </a:solidFill>
                <a:latin typeface="Times New Roman" panose="02020603050405020304" pitchFamily="18" charset="0"/>
                <a:cs typeface="Times New Roman" panose="02020603050405020304" pitchFamily="18" charset="0"/>
              </a:rPr>
              <a:t>, and </a:t>
            </a:r>
            <a:r>
              <a:rPr lang="en-US" sz="3200" b="1" dirty="0">
                <a:solidFill>
                  <a:schemeClr val="bg1"/>
                </a:solidFill>
                <a:latin typeface="Times New Roman" panose="02020603050405020304" pitchFamily="18" charset="0"/>
                <a:cs typeface="Times New Roman" panose="02020603050405020304" pitchFamily="18" charset="0"/>
              </a:rPr>
              <a:t>L2 Regularization</a:t>
            </a:r>
            <a:r>
              <a:rPr lang="en-US" sz="3200" dirty="0">
                <a:solidFill>
                  <a:schemeClr val="bg1"/>
                </a:solidFill>
                <a:latin typeface="Times New Roman" panose="02020603050405020304" pitchFamily="18" charset="0"/>
                <a:cs typeface="Times New Roman" panose="02020603050405020304" pitchFamily="18" charset="0"/>
              </a:rPr>
              <a:t> ensure stable and generalizable performance. Optimized with the </a:t>
            </a:r>
            <a:r>
              <a:rPr lang="en-US" sz="3200" b="1" dirty="0">
                <a:solidFill>
                  <a:schemeClr val="bg1"/>
                </a:solidFill>
                <a:latin typeface="Times New Roman" panose="02020603050405020304" pitchFamily="18" charset="0"/>
                <a:cs typeface="Times New Roman" panose="02020603050405020304" pitchFamily="18" charset="0"/>
              </a:rPr>
              <a:t>Adam algorithm and learning rate scheduling</a:t>
            </a:r>
            <a:r>
              <a:rPr lang="en-US" sz="3200" dirty="0">
                <a:solidFill>
                  <a:schemeClr val="bg1"/>
                </a:solidFill>
                <a:latin typeface="Times New Roman" panose="02020603050405020304" pitchFamily="18" charset="0"/>
                <a:cs typeface="Times New Roman" panose="02020603050405020304" pitchFamily="18" charset="0"/>
              </a:rPr>
              <a:t>, NeuraInk serves as an effective prototype for educational tools, assistive tech, and intelligent document processing systems.</a:t>
            </a:r>
            <a:endParaRPr lang="en-US" sz="2800" dirty="0">
              <a:solidFill>
                <a:schemeClr val="bg1"/>
              </a:solidFill>
              <a:latin typeface="Times New Roman" panose="02020603050405020304" pitchFamily="18" charset="0"/>
              <a:ea typeface="Codec Pro"/>
              <a:cs typeface="Times New Roman" panose="02020603050405020304" pitchFamily="18" charset="0"/>
              <a:sym typeface="Codec Pro"/>
            </a:endParaRPr>
          </a:p>
        </p:txBody>
      </p:sp>
      <p:sp>
        <p:nvSpPr>
          <p:cNvPr id="19" name="TextBox 19">
            <a:extLst>
              <a:ext uri="{FF2B5EF4-FFF2-40B4-BE49-F238E27FC236}">
                <a16:creationId xmlns:a16="http://schemas.microsoft.com/office/drawing/2014/main" id="{ED35B561-EA71-4263-A458-D4B19B11F403}"/>
              </a:ext>
            </a:extLst>
          </p:cNvPr>
          <p:cNvSpPr txBox="1"/>
          <p:nvPr/>
        </p:nvSpPr>
        <p:spPr>
          <a:xfrm>
            <a:off x="9429750" y="3419546"/>
            <a:ext cx="1749075" cy="2192908"/>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Anantason UltraExpanded Thin"/>
              <a:ea typeface="Anantason UltraExpanded Thin"/>
              <a:cs typeface="Anantason UltraExpanded Thin"/>
              <a:sym typeface="Anantason UltraExpanded Thin"/>
            </a:endParaRPr>
          </a:p>
        </p:txBody>
      </p:sp>
      <p:sp>
        <p:nvSpPr>
          <p:cNvPr id="23" name="TextBox 23">
            <a:extLst>
              <a:ext uri="{FF2B5EF4-FFF2-40B4-BE49-F238E27FC236}">
                <a16:creationId xmlns:a16="http://schemas.microsoft.com/office/drawing/2014/main" id="{87924794-0896-CBD3-BC5F-9CD35F53EEDA}"/>
              </a:ext>
            </a:extLst>
          </p:cNvPr>
          <p:cNvSpPr txBox="1"/>
          <p:nvPr/>
        </p:nvSpPr>
        <p:spPr>
          <a:xfrm>
            <a:off x="9429750" y="5467421"/>
            <a:ext cx="1749075" cy="2192908"/>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Anantason UltraExpanded Thin"/>
              <a:ea typeface="Anantason UltraExpanded Thin"/>
              <a:cs typeface="Anantason UltraExpanded Thin"/>
              <a:sym typeface="Anantason UltraExpanded Thin"/>
            </a:endParaRPr>
          </a:p>
        </p:txBody>
      </p:sp>
      <p:sp>
        <p:nvSpPr>
          <p:cNvPr id="31" name="TextBox 31">
            <a:extLst>
              <a:ext uri="{FF2B5EF4-FFF2-40B4-BE49-F238E27FC236}">
                <a16:creationId xmlns:a16="http://schemas.microsoft.com/office/drawing/2014/main" id="{684180D4-946E-D845-4278-9D63E7F5DC05}"/>
              </a:ext>
            </a:extLst>
          </p:cNvPr>
          <p:cNvSpPr txBox="1"/>
          <p:nvPr/>
        </p:nvSpPr>
        <p:spPr>
          <a:xfrm>
            <a:off x="1182347" y="5467421"/>
            <a:ext cx="1749075" cy="2192908"/>
          </a:xfrm>
          <a:prstGeom prst="rect">
            <a:avLst/>
          </a:prstGeom>
        </p:spPr>
        <p:txBody>
          <a:bodyPr lIns="0" tIns="0" rIns="0" bIns="0" rtlCol="0" anchor="t">
            <a:spAutoFit/>
          </a:bodyPr>
          <a:lstStyle/>
          <a:p>
            <a:pPr algn="ctr">
              <a:lnSpc>
                <a:spcPts val="17073"/>
              </a:lnSpc>
              <a:spcBef>
                <a:spcPct val="0"/>
              </a:spcBef>
            </a:pPr>
            <a:endParaRPr lang="en-US" sz="14227" dirty="0">
              <a:solidFill>
                <a:srgbClr val="78FF87"/>
              </a:solidFill>
              <a:latin typeface="Anantason UltraExpanded Thin"/>
              <a:ea typeface="Anantason UltraExpanded Thin"/>
              <a:cs typeface="Anantason UltraExpanded Thin"/>
              <a:sym typeface="Anantason UltraExpanded Thin"/>
            </a:endParaRPr>
          </a:p>
        </p:txBody>
      </p:sp>
    </p:spTree>
    <p:extLst>
      <p:ext uri="{BB962C8B-B14F-4D97-AF65-F5344CB8AC3E}">
        <p14:creationId xmlns:p14="http://schemas.microsoft.com/office/powerpoint/2010/main" val="3235522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60032"/>
        </a:solidFill>
        <a:effectLst/>
      </p:bgPr>
    </p:bg>
    <p:spTree>
      <p:nvGrpSpPr>
        <p:cNvPr id="1" name=""/>
        <p:cNvGrpSpPr/>
        <p:nvPr/>
      </p:nvGrpSpPr>
      <p:grpSpPr>
        <a:xfrm>
          <a:off x="0" y="0"/>
          <a:ext cx="0" cy="0"/>
          <a:chOff x="0" y="0"/>
          <a:chExt cx="0" cy="0"/>
        </a:xfrm>
      </p:grpSpPr>
      <p:sp>
        <p:nvSpPr>
          <p:cNvPr id="2" name="Freeform 2"/>
          <p:cNvSpPr/>
          <p:nvPr/>
        </p:nvSpPr>
        <p:spPr>
          <a:xfrm>
            <a:off x="-2257325" y="-2672728"/>
            <a:ext cx="16355952" cy="16022018"/>
          </a:xfrm>
          <a:custGeom>
            <a:avLst/>
            <a:gdLst/>
            <a:ahLst/>
            <a:cxnLst/>
            <a:rect l="l" t="t" r="r" b="b"/>
            <a:pathLst>
              <a:path w="16355952" h="16022018">
                <a:moveTo>
                  <a:pt x="0" y="0"/>
                </a:moveTo>
                <a:lnTo>
                  <a:pt x="16355952" y="0"/>
                </a:lnTo>
                <a:lnTo>
                  <a:pt x="16355952" y="16022017"/>
                </a:lnTo>
                <a:lnTo>
                  <a:pt x="0" y="16022017"/>
                </a:lnTo>
                <a:lnTo>
                  <a:pt x="0" y="0"/>
                </a:lnTo>
                <a:close/>
              </a:path>
            </a:pathLst>
          </a:custGeom>
          <a:blipFill>
            <a:blip r:embed="rId2"/>
            <a:stretch>
              <a:fillRect/>
            </a:stretch>
          </a:blipFill>
        </p:spPr>
      </p:sp>
      <p:sp>
        <p:nvSpPr>
          <p:cNvPr id="3" name="Freeform 3"/>
          <p:cNvSpPr/>
          <p:nvPr/>
        </p:nvSpPr>
        <p:spPr>
          <a:xfrm>
            <a:off x="8389737" y="7597167"/>
            <a:ext cx="11417781" cy="4925864"/>
          </a:xfrm>
          <a:custGeom>
            <a:avLst/>
            <a:gdLst/>
            <a:ahLst/>
            <a:cxnLst/>
            <a:rect l="l" t="t" r="r" b="b"/>
            <a:pathLst>
              <a:path w="11417781" h="4925864">
                <a:moveTo>
                  <a:pt x="0" y="0"/>
                </a:moveTo>
                <a:lnTo>
                  <a:pt x="11417781" y="0"/>
                </a:lnTo>
                <a:lnTo>
                  <a:pt x="11417781" y="4925865"/>
                </a:lnTo>
                <a:lnTo>
                  <a:pt x="0" y="49258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3886200" y="3604617"/>
            <a:ext cx="12242556" cy="1538883"/>
          </a:xfrm>
          <a:prstGeom prst="rect">
            <a:avLst/>
          </a:prstGeom>
        </p:spPr>
        <p:txBody>
          <a:bodyPr wrap="square" lIns="0" tIns="0" rIns="0" bIns="0" rtlCol="0" anchor="t">
            <a:spAutoFit/>
          </a:bodyPr>
          <a:lstStyle/>
          <a:p>
            <a:pPr algn="l">
              <a:lnSpc>
                <a:spcPts val="11999"/>
              </a:lnSpc>
            </a:pPr>
            <a:r>
              <a:rPr lang="en-US" sz="9999"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nantason UltraExpanded Bold"/>
                <a:ea typeface="Anantason UltraExpanded Bold"/>
                <a:cs typeface="Anantason UltraExpanded Bold"/>
                <a:sym typeface="Anantason UltraExpand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763</TotalTime>
  <Words>1236</Words>
  <Application>Microsoft Office PowerPoint</Application>
  <PresentationFormat>Custom</PresentationFormat>
  <Paragraphs>135</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Times New Roman</vt:lpstr>
      <vt:lpstr>Anantason UltraExpanded Bold</vt:lpstr>
      <vt:lpstr>Arial Unicode MS</vt:lpstr>
      <vt:lpstr>Arial</vt:lpstr>
      <vt:lpstr>Anantason UltraExpanded Thin</vt:lpstr>
      <vt:lpstr>Codec Pro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Artificial Neural Networks Conference</dc:title>
  <dc:creator>koulik saha</dc:creator>
  <cp:lastModifiedBy>Itzz Hashtag</cp:lastModifiedBy>
  <cp:revision>21</cp:revision>
  <dcterms:created xsi:type="dcterms:W3CDTF">2006-08-16T00:00:00Z</dcterms:created>
  <dcterms:modified xsi:type="dcterms:W3CDTF">2025-08-01T23:49:39Z</dcterms:modified>
  <dc:identifier>DAGqaztxsdM</dc:identifier>
</cp:coreProperties>
</file>